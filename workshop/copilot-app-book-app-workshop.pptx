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A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1"/>
          </a:solidFill>
          <a:ln/>
        </p:spPr>
      </p:sp>
      <p:pic>
        <p:nvPicPr>
          <p:cNvPr id="3" name="QA:rail" descr="/Users/ekyritsi/copilot-worktrees/my-pptx-generator/ekyritsi-super-journey/assets/rails/2026-rail-copilot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232000" cy="6858000"/>
          </a:xfrm>
          <a:prstGeom prst="rect">
            <a:avLst/>
          </a:prstGeom>
        </p:spPr>
      </p:pic>
      <p:sp>
        <p:nvSpPr>
          <p:cNvPr id="4" name="QA:title"/>
          <p:cNvSpPr/>
          <p:nvPr/>
        </p:nvSpPr>
        <p:spPr>
          <a:xfrm>
            <a:off x="2433168" y="2252980"/>
            <a:ext cx="9209887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From one idea to</a:t>
            </a:r>
            <a:endParaRPr lang="en-US" sz="5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coordinated work</a:t>
            </a:r>
            <a:endParaRPr lang="en-US" sz="5400" dirty="0"/>
          </a:p>
        </p:txBody>
      </p:sp>
      <p:sp>
        <p:nvSpPr>
          <p:cNvPr id="5" name="QA:subtitle"/>
          <p:cNvSpPr/>
          <p:nvPr/>
        </p:nvSpPr>
        <p:spPr>
          <a:xfrm>
            <a:off x="2433168" y="3930904"/>
            <a:ext cx="9209887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A 90-minute, hands-on GitHub Copilot app workshop using the Book App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A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1"/>
          </a:solidFill>
          <a:ln/>
        </p:spPr>
      </p:sp>
      <p:sp>
        <p:nvSpPr>
          <p:cNvPr id="3" name="QA:chrome"/>
          <p:cNvSpPr/>
          <p:nvPr/>
        </p:nvSpPr>
        <p:spPr>
          <a:xfrm>
            <a:off x="0" y="6454800"/>
            <a:ext cx="12191695" cy="18000"/>
          </a:xfrm>
          <a:prstGeom prst="rect">
            <a:avLst/>
          </a:prstGeom>
          <a:solidFill>
            <a:srgbClr val="8534F3"/>
          </a:solidFill>
          <a:ln/>
        </p:spPr>
      </p:sp>
      <p:sp>
        <p:nvSpPr>
          <p:cNvPr id="4" name="QA:chrome"/>
          <p:cNvSpPr/>
          <p:nvPr/>
        </p:nvSpPr>
        <p:spPr>
          <a:xfrm>
            <a:off x="548640" y="6526800"/>
            <a:ext cx="4572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09692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2</a:t>
            </a:r>
            <a:endParaRPr lang="en-US" sz="1200" dirty="0"/>
          </a:p>
        </p:txBody>
      </p:sp>
      <p:pic>
        <p:nvPicPr>
          <p:cNvPr id="5" name="QA:chrome" descr="/Users/ekyritsi/copilot-worktrees/my-pptx-generator/ekyritsi-super-journey/assets/logos/GitHub_Invertoca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52495" y="6530400"/>
            <a:ext cx="259200" cy="252000"/>
          </a:xfrm>
          <a:prstGeom prst="rect">
            <a:avLst/>
          </a:prstGeom>
        </p:spPr>
      </p:pic>
      <p:sp>
        <p:nvSpPr>
          <p:cNvPr id="6" name="QA:chrome"/>
          <p:cNvSpPr/>
          <p:nvPr/>
        </p:nvSpPr>
        <p:spPr>
          <a:xfrm>
            <a:off x="11669695" y="6472800"/>
            <a:ext cx="10800" cy="385200"/>
          </a:xfrm>
          <a:prstGeom prst="rect">
            <a:avLst/>
          </a:prstGeom>
          <a:solidFill>
            <a:srgbClr val="909692"/>
          </a:solidFill>
          <a:ln/>
        </p:spPr>
      </p:sp>
      <p:sp>
        <p:nvSpPr>
          <p:cNvPr id="7" name="QA:slide_title"/>
          <p:cNvSpPr/>
          <p:nvPr/>
        </p:nvSpPr>
        <p:spPr>
          <a:xfrm>
            <a:off x="548640" y="22860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What makes the app different?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48640" y="2617292"/>
            <a:ext cx="1645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8534F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•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04672" y="2617292"/>
            <a:ext cx="1083838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Separate sessions: run focused tasks in parallel, each in its own worktree.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548640" y="3203524"/>
            <a:ext cx="1645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8534F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•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804672" y="3203524"/>
            <a:ext cx="1083838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See the work: keep plans, diffs, terminal output, and browser preview in one session.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548640" y="3789756"/>
            <a:ext cx="1645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8534F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•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804672" y="3789756"/>
            <a:ext cx="1083838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Specialize help: use a custom agent for a defined role and a skill for reusable task guidance.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548640" y="4375988"/>
            <a:ext cx="1645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8534F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•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804672" y="4375988"/>
            <a:ext cx="1083838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Share state: use a canvas to keep decisions and validation evidence visible beside the work.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A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1"/>
          </a:solidFill>
          <a:ln/>
        </p:spPr>
      </p:sp>
      <p:sp>
        <p:nvSpPr>
          <p:cNvPr id="3" name="QA:chrome"/>
          <p:cNvSpPr/>
          <p:nvPr/>
        </p:nvSpPr>
        <p:spPr>
          <a:xfrm>
            <a:off x="0" y="6454800"/>
            <a:ext cx="12191695" cy="18000"/>
          </a:xfrm>
          <a:prstGeom prst="rect">
            <a:avLst/>
          </a:prstGeom>
          <a:solidFill>
            <a:srgbClr val="8534F3"/>
          </a:solidFill>
          <a:ln/>
        </p:spPr>
      </p:sp>
      <p:sp>
        <p:nvSpPr>
          <p:cNvPr id="4" name="QA:chrome"/>
          <p:cNvSpPr/>
          <p:nvPr/>
        </p:nvSpPr>
        <p:spPr>
          <a:xfrm>
            <a:off x="548640" y="6526800"/>
            <a:ext cx="4572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09692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3</a:t>
            </a:r>
            <a:endParaRPr lang="en-US" sz="1200" dirty="0"/>
          </a:p>
        </p:txBody>
      </p:sp>
      <p:pic>
        <p:nvPicPr>
          <p:cNvPr id="5" name="QA:chrome" descr="/Users/ekyritsi/copilot-worktrees/my-pptx-generator/ekyritsi-super-journey/assets/logos/GitHub_Invertoca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52495" y="6530400"/>
            <a:ext cx="259200" cy="252000"/>
          </a:xfrm>
          <a:prstGeom prst="rect">
            <a:avLst/>
          </a:prstGeom>
        </p:spPr>
      </p:pic>
      <p:sp>
        <p:nvSpPr>
          <p:cNvPr id="6" name="QA:chrome"/>
          <p:cNvSpPr/>
          <p:nvPr/>
        </p:nvSpPr>
        <p:spPr>
          <a:xfrm>
            <a:off x="11669695" y="6472800"/>
            <a:ext cx="10800" cy="385200"/>
          </a:xfrm>
          <a:prstGeom prst="rect">
            <a:avLst/>
          </a:prstGeom>
          <a:solidFill>
            <a:srgbClr val="909692"/>
          </a:solidFill>
          <a:ln/>
        </p:spPr>
      </p:sp>
      <p:sp>
        <p:nvSpPr>
          <p:cNvPr id="7" name="QA:rule"/>
          <p:cNvSpPr/>
          <p:nvPr/>
        </p:nvSpPr>
        <p:spPr>
          <a:xfrm>
            <a:off x="548640" y="2734945"/>
            <a:ext cx="1097280" cy="50800"/>
          </a:xfrm>
          <a:prstGeom prst="rect">
            <a:avLst/>
          </a:prstGeom>
          <a:solidFill>
            <a:srgbClr val="8534F3"/>
          </a:solidFill>
          <a:ln/>
        </p:spPr>
      </p:sp>
      <p:sp>
        <p:nvSpPr>
          <p:cNvPr id="8" name="QA:title"/>
          <p:cNvSpPr/>
          <p:nvPr/>
        </p:nvSpPr>
        <p:spPr>
          <a:xfrm>
            <a:off x="548640" y="3014345"/>
            <a:ext cx="8534187" cy="560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Wednesday participant preflight</a:t>
            </a:r>
            <a:endParaRPr lang="en-US" sz="4200" dirty="0"/>
          </a:p>
        </p:txBody>
      </p:sp>
      <p:sp>
        <p:nvSpPr>
          <p:cNvPr id="9" name="QA:subtitle"/>
          <p:cNvSpPr/>
          <p:nvPr/>
        </p:nvSpPr>
        <p:spPr>
          <a:xfrm>
            <a:off x="548640" y="3803015"/>
            <a:ext cx="853418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Use slides 3–5 in the short setup call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A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1"/>
          </a:solidFill>
          <a:ln/>
        </p:spPr>
      </p:sp>
      <p:sp>
        <p:nvSpPr>
          <p:cNvPr id="3" name="QA:chrome"/>
          <p:cNvSpPr/>
          <p:nvPr/>
        </p:nvSpPr>
        <p:spPr>
          <a:xfrm>
            <a:off x="0" y="6454800"/>
            <a:ext cx="12191695" cy="18000"/>
          </a:xfrm>
          <a:prstGeom prst="rect">
            <a:avLst/>
          </a:prstGeom>
          <a:solidFill>
            <a:srgbClr val="8534F3"/>
          </a:solidFill>
          <a:ln/>
        </p:spPr>
      </p:sp>
      <p:sp>
        <p:nvSpPr>
          <p:cNvPr id="4" name="QA:chrome"/>
          <p:cNvSpPr/>
          <p:nvPr/>
        </p:nvSpPr>
        <p:spPr>
          <a:xfrm>
            <a:off x="548640" y="6526800"/>
            <a:ext cx="4572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09692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4</a:t>
            </a:r>
            <a:endParaRPr lang="en-US" sz="1200" dirty="0"/>
          </a:p>
        </p:txBody>
      </p:sp>
      <p:pic>
        <p:nvPicPr>
          <p:cNvPr id="5" name="QA:chrome" descr="/Users/ekyritsi/copilot-worktrees/my-pptx-generator/ekyritsi-super-journey/assets/logos/GitHub_Invertoca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52495" y="6530400"/>
            <a:ext cx="259200" cy="252000"/>
          </a:xfrm>
          <a:prstGeom prst="rect">
            <a:avLst/>
          </a:prstGeom>
        </p:spPr>
      </p:pic>
      <p:sp>
        <p:nvSpPr>
          <p:cNvPr id="6" name="QA:chrome"/>
          <p:cNvSpPr/>
          <p:nvPr/>
        </p:nvSpPr>
        <p:spPr>
          <a:xfrm>
            <a:off x="11669695" y="6472800"/>
            <a:ext cx="10800" cy="385200"/>
          </a:xfrm>
          <a:prstGeom prst="rect">
            <a:avLst/>
          </a:prstGeom>
          <a:solidFill>
            <a:srgbClr val="909692"/>
          </a:solidFill>
          <a:ln/>
        </p:spPr>
      </p:sp>
      <p:sp>
        <p:nvSpPr>
          <p:cNvPr id="7" name="QA:slide_title"/>
          <p:cNvSpPr/>
          <p:nvPr/>
        </p:nvSpPr>
        <p:spPr>
          <a:xfrm>
            <a:off x="548640" y="22860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Preflight call · 20 minutes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48640" y="2324176"/>
            <a:ext cx="1645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8534F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•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04672" y="2324176"/>
            <a:ext cx="1083838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0–3 min · Explain the goal, public-repo access, and setup checklist.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548640" y="2910408"/>
            <a:ext cx="1645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8534F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•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804672" y="2910408"/>
            <a:ext cx="1083838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3–8 min · Confirm app installation and sign-in.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548640" y="3496640"/>
            <a:ext cx="1645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8534F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•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804672" y="3496640"/>
            <a:ext cx="1083838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8–13 min · Confirm repo access and add the course repo as a project.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548640" y="4082872"/>
            <a:ext cx="1645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8534F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•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804672" y="4082872"/>
            <a:ext cx="1083838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13–18 min · Confirm Git and Node.js/npm; run sample checks.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548640" y="4669104"/>
            <a:ext cx="1645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8534F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•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804672" y="4669104"/>
            <a:ext cx="1083838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18–20 min · Resolve blockers and confirm readiness.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A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1"/>
          </a:solidFill>
          <a:ln/>
        </p:spPr>
      </p:sp>
      <p:sp>
        <p:nvSpPr>
          <p:cNvPr id="3" name="QA:chrome"/>
          <p:cNvSpPr/>
          <p:nvPr/>
        </p:nvSpPr>
        <p:spPr>
          <a:xfrm>
            <a:off x="0" y="6454800"/>
            <a:ext cx="12191695" cy="18000"/>
          </a:xfrm>
          <a:prstGeom prst="rect">
            <a:avLst/>
          </a:prstGeom>
          <a:solidFill>
            <a:srgbClr val="8534F3"/>
          </a:solidFill>
          <a:ln/>
        </p:spPr>
      </p:sp>
      <p:sp>
        <p:nvSpPr>
          <p:cNvPr id="4" name="QA:chrome"/>
          <p:cNvSpPr/>
          <p:nvPr/>
        </p:nvSpPr>
        <p:spPr>
          <a:xfrm>
            <a:off x="548640" y="6526800"/>
            <a:ext cx="4572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09692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5</a:t>
            </a:r>
            <a:endParaRPr lang="en-US" sz="1200" dirty="0"/>
          </a:p>
        </p:txBody>
      </p:sp>
      <p:pic>
        <p:nvPicPr>
          <p:cNvPr id="5" name="QA:chrome" descr="/Users/ekyritsi/copilot-worktrees/my-pptx-generator/ekyritsi-super-journey/assets/logos/GitHub_Invertoca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52495" y="6530400"/>
            <a:ext cx="259200" cy="252000"/>
          </a:xfrm>
          <a:prstGeom prst="rect">
            <a:avLst/>
          </a:prstGeom>
        </p:spPr>
      </p:pic>
      <p:sp>
        <p:nvSpPr>
          <p:cNvPr id="6" name="QA:chrome"/>
          <p:cNvSpPr/>
          <p:nvPr/>
        </p:nvSpPr>
        <p:spPr>
          <a:xfrm>
            <a:off x="11669695" y="6472800"/>
            <a:ext cx="10800" cy="385200"/>
          </a:xfrm>
          <a:prstGeom prst="rect">
            <a:avLst/>
          </a:prstGeom>
          <a:solidFill>
            <a:srgbClr val="909692"/>
          </a:solidFill>
          <a:ln/>
        </p:spPr>
      </p:sp>
      <p:sp>
        <p:nvSpPr>
          <p:cNvPr id="7" name="QA:slide_title"/>
          <p:cNvSpPr/>
          <p:nvPr/>
        </p:nvSpPr>
        <p:spPr>
          <a:xfrm>
            <a:off x="548640" y="22860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Participant setup before class</a:t>
            </a:r>
            <a:endParaRPr lang="en-US" sz="2800" dirty="0"/>
          </a:p>
        </p:txBody>
      </p:sp>
      <p:sp>
        <p:nvSpPr>
          <p:cNvPr id="8" name="QA:card"/>
          <p:cNvSpPr/>
          <p:nvPr/>
        </p:nvSpPr>
        <p:spPr>
          <a:xfrm>
            <a:off x="548640" y="1005840"/>
            <a:ext cx="11094415" cy="5311800"/>
          </a:xfrm>
          <a:prstGeom prst="roundRect">
            <a:avLst>
              <a:gd name="adj" fmla="val 2754"/>
            </a:avLst>
          </a:prstGeom>
          <a:solidFill>
            <a:srgbClr val="20262C"/>
          </a:solidFill>
          <a:ln w="9525">
            <a:solidFill>
              <a:srgbClr val="5A615C"/>
            </a:solidFill>
            <a:prstDash val="solid"/>
          </a:ln>
        </p:spPr>
      </p:sp>
      <p:sp>
        <p:nvSpPr>
          <p:cNvPr id="9" name="QA:check:0"/>
          <p:cNvSpPr/>
          <p:nvPr/>
        </p:nvSpPr>
        <p:spPr>
          <a:xfrm>
            <a:off x="914400" y="1450644"/>
            <a:ext cx="347472" cy="347472"/>
          </a:xfrm>
          <a:prstGeom prst="roundRect">
            <a:avLst>
              <a:gd name="adj" fmla="val 50000"/>
            </a:avLst>
          </a:prstGeom>
          <a:ln w="19050">
            <a:solidFill>
              <a:srgbClr val="909692"/>
            </a:solidFill>
            <a:prstDash val="solid"/>
          </a:ln>
        </p:spPr>
      </p:sp>
      <p:sp>
        <p:nvSpPr>
          <p:cNvPr id="10" name="QA:heading:0"/>
          <p:cNvSpPr/>
          <p:nvPr/>
        </p:nvSpPr>
        <p:spPr>
          <a:xfrm>
            <a:off x="1645920" y="1471980"/>
            <a:ext cx="9631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GitHub account with Copilot access; organization policy allows the app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914400" y="2025502"/>
            <a:ext cx="10362895" cy="12700"/>
          </a:xfrm>
          <a:prstGeom prst="rect">
            <a:avLst/>
          </a:prstGeom>
          <a:solidFill>
            <a:srgbClr val="5A615C"/>
          </a:solidFill>
          <a:ln/>
        </p:spPr>
      </p:sp>
      <p:sp>
        <p:nvSpPr>
          <p:cNvPr id="12" name="QA:check:1"/>
          <p:cNvSpPr/>
          <p:nvPr/>
        </p:nvSpPr>
        <p:spPr>
          <a:xfrm>
            <a:off x="914400" y="2265588"/>
            <a:ext cx="347472" cy="347472"/>
          </a:xfrm>
          <a:prstGeom prst="roundRect">
            <a:avLst>
              <a:gd name="adj" fmla="val 50000"/>
            </a:avLst>
          </a:prstGeom>
          <a:ln w="19050">
            <a:solidFill>
              <a:srgbClr val="909692"/>
            </a:solidFill>
            <a:prstDash val="solid"/>
          </a:ln>
        </p:spPr>
      </p:sp>
      <p:sp>
        <p:nvSpPr>
          <p:cNvPr id="13" name="QA:heading:1"/>
          <p:cNvSpPr/>
          <p:nvPr/>
        </p:nvSpPr>
        <p:spPr>
          <a:xfrm>
            <a:off x="1645920" y="2286924"/>
            <a:ext cx="9631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Copilot app installed and signed in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914400" y="2840446"/>
            <a:ext cx="10362895" cy="12700"/>
          </a:xfrm>
          <a:prstGeom prst="rect">
            <a:avLst/>
          </a:prstGeom>
          <a:solidFill>
            <a:srgbClr val="5A615C"/>
          </a:solidFill>
          <a:ln/>
        </p:spPr>
      </p:sp>
      <p:sp>
        <p:nvSpPr>
          <p:cNvPr id="15" name="QA:check:2"/>
          <p:cNvSpPr/>
          <p:nvPr/>
        </p:nvSpPr>
        <p:spPr>
          <a:xfrm>
            <a:off x="914400" y="3080532"/>
            <a:ext cx="347472" cy="347472"/>
          </a:xfrm>
          <a:prstGeom prst="roundRect">
            <a:avLst>
              <a:gd name="adj" fmla="val 50000"/>
            </a:avLst>
          </a:prstGeom>
          <a:ln w="19050">
            <a:solidFill>
              <a:srgbClr val="909692"/>
            </a:solidFill>
            <a:prstDash val="solid"/>
          </a:ln>
        </p:spPr>
      </p:sp>
      <p:sp>
        <p:nvSpPr>
          <p:cNvPr id="16" name="QA:heading:2"/>
          <p:cNvSpPr/>
          <p:nvPr/>
        </p:nvSpPr>
        <p:spPr>
          <a:xfrm>
            <a:off x="1645920" y="3101868"/>
            <a:ext cx="9631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Clone the public course repo and add it as a Copilot app project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914400" y="3655390"/>
            <a:ext cx="10362895" cy="12700"/>
          </a:xfrm>
          <a:prstGeom prst="rect">
            <a:avLst/>
          </a:prstGeom>
          <a:solidFill>
            <a:srgbClr val="5A615C"/>
          </a:solidFill>
          <a:ln/>
        </p:spPr>
      </p:sp>
      <p:sp>
        <p:nvSpPr>
          <p:cNvPr id="18" name="QA:check:3"/>
          <p:cNvSpPr/>
          <p:nvPr/>
        </p:nvSpPr>
        <p:spPr>
          <a:xfrm>
            <a:off x="914400" y="3895476"/>
            <a:ext cx="347472" cy="347472"/>
          </a:xfrm>
          <a:prstGeom prst="roundRect">
            <a:avLst>
              <a:gd name="adj" fmla="val 50000"/>
            </a:avLst>
          </a:prstGeom>
          <a:ln w="19050">
            <a:solidFill>
              <a:srgbClr val="909692"/>
            </a:solidFill>
            <a:prstDash val="solid"/>
          </a:ln>
        </p:spPr>
      </p:sp>
      <p:sp>
        <p:nvSpPr>
          <p:cNvPr id="19" name="QA:heading:3"/>
          <p:cNvSpPr/>
          <p:nvPr/>
        </p:nvSpPr>
        <p:spPr>
          <a:xfrm>
            <a:off x="1645920" y="3916812"/>
            <a:ext cx="9631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Git available; Node.js LTS and npm installed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914400" y="4470334"/>
            <a:ext cx="10362895" cy="12700"/>
          </a:xfrm>
          <a:prstGeom prst="rect">
            <a:avLst/>
          </a:prstGeom>
          <a:solidFill>
            <a:srgbClr val="5A615C"/>
          </a:solidFill>
          <a:ln/>
        </p:spPr>
      </p:sp>
      <p:sp>
        <p:nvSpPr>
          <p:cNvPr id="21" name="QA:check:4"/>
          <p:cNvSpPr/>
          <p:nvPr/>
        </p:nvSpPr>
        <p:spPr>
          <a:xfrm>
            <a:off x="914400" y="4710420"/>
            <a:ext cx="347472" cy="347472"/>
          </a:xfrm>
          <a:prstGeom prst="roundRect">
            <a:avLst>
              <a:gd name="adj" fmla="val 50000"/>
            </a:avLst>
          </a:prstGeom>
          <a:ln w="19050">
            <a:solidFill>
              <a:srgbClr val="909692"/>
            </a:solidFill>
            <a:prstDash val="solid"/>
          </a:ln>
        </p:spPr>
      </p:sp>
      <p:sp>
        <p:nvSpPr>
          <p:cNvPr id="22" name="QA:heading:4"/>
          <p:cNvSpPr/>
          <p:nvPr/>
        </p:nvSpPr>
        <p:spPr>
          <a:xfrm>
            <a:off x="1645920" y="4731756"/>
            <a:ext cx="9631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Book App tests and build pass; preview opens</a:t>
            </a:r>
            <a:endParaRPr lang="en-US" sz="2000" dirty="0"/>
          </a:p>
        </p:txBody>
      </p:sp>
      <p:sp>
        <p:nvSpPr>
          <p:cNvPr id="23" name="Shape 20"/>
          <p:cNvSpPr/>
          <p:nvPr/>
        </p:nvSpPr>
        <p:spPr>
          <a:xfrm>
            <a:off x="914400" y="5285278"/>
            <a:ext cx="10362895" cy="12700"/>
          </a:xfrm>
          <a:prstGeom prst="rect">
            <a:avLst/>
          </a:prstGeom>
          <a:solidFill>
            <a:srgbClr val="5A615C"/>
          </a:solidFill>
          <a:ln/>
        </p:spPr>
      </p:sp>
      <p:sp>
        <p:nvSpPr>
          <p:cNvPr id="24" name="QA:check:5"/>
          <p:cNvSpPr/>
          <p:nvPr/>
        </p:nvSpPr>
        <p:spPr>
          <a:xfrm>
            <a:off x="914400" y="5525364"/>
            <a:ext cx="347472" cy="347472"/>
          </a:xfrm>
          <a:prstGeom prst="roundRect">
            <a:avLst>
              <a:gd name="adj" fmla="val 50000"/>
            </a:avLst>
          </a:prstGeom>
          <a:ln w="19050">
            <a:solidFill>
              <a:srgbClr val="909692"/>
            </a:solidFill>
            <a:prstDash val="solid"/>
          </a:ln>
        </p:spPr>
      </p:sp>
      <p:sp>
        <p:nvSpPr>
          <p:cNvPr id="25" name="QA:heading:5"/>
          <p:cNvSpPr/>
          <p:nvPr/>
        </p:nvSpPr>
        <p:spPr>
          <a:xfrm>
            <a:off x="1645920" y="5546700"/>
            <a:ext cx="9631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GitHub CLI is not required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A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1"/>
          </a:solidFill>
          <a:ln/>
        </p:spPr>
      </p:sp>
      <p:sp>
        <p:nvSpPr>
          <p:cNvPr id="3" name="QA:chrome"/>
          <p:cNvSpPr/>
          <p:nvPr/>
        </p:nvSpPr>
        <p:spPr>
          <a:xfrm>
            <a:off x="0" y="6454800"/>
            <a:ext cx="12191695" cy="18000"/>
          </a:xfrm>
          <a:prstGeom prst="rect">
            <a:avLst/>
          </a:prstGeom>
          <a:solidFill>
            <a:srgbClr val="8534F3"/>
          </a:solidFill>
          <a:ln/>
        </p:spPr>
      </p:sp>
      <p:sp>
        <p:nvSpPr>
          <p:cNvPr id="4" name="QA:chrome"/>
          <p:cNvSpPr/>
          <p:nvPr/>
        </p:nvSpPr>
        <p:spPr>
          <a:xfrm>
            <a:off x="548640" y="6526800"/>
            <a:ext cx="4572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09692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6</a:t>
            </a:r>
            <a:endParaRPr lang="en-US" sz="1200" dirty="0"/>
          </a:p>
        </p:txBody>
      </p:sp>
      <p:pic>
        <p:nvPicPr>
          <p:cNvPr id="5" name="QA:chrome" descr="/Users/ekyritsi/copilot-worktrees/my-pptx-generator/ekyritsi-super-journey/assets/logos/GitHub_Invertoca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52495" y="6530400"/>
            <a:ext cx="259200" cy="252000"/>
          </a:xfrm>
          <a:prstGeom prst="rect">
            <a:avLst/>
          </a:prstGeom>
        </p:spPr>
      </p:pic>
      <p:sp>
        <p:nvSpPr>
          <p:cNvPr id="6" name="QA:chrome"/>
          <p:cNvSpPr/>
          <p:nvPr/>
        </p:nvSpPr>
        <p:spPr>
          <a:xfrm>
            <a:off x="11669695" y="6472800"/>
            <a:ext cx="10800" cy="385200"/>
          </a:xfrm>
          <a:prstGeom prst="rect">
            <a:avLst/>
          </a:prstGeom>
          <a:solidFill>
            <a:srgbClr val="909692"/>
          </a:solidFill>
          <a:ln/>
        </p:spPr>
      </p:sp>
      <p:sp>
        <p:nvSpPr>
          <p:cNvPr id="7" name="QA:rule"/>
          <p:cNvSpPr/>
          <p:nvPr/>
        </p:nvSpPr>
        <p:spPr>
          <a:xfrm>
            <a:off x="548640" y="2734945"/>
            <a:ext cx="1097280" cy="50800"/>
          </a:xfrm>
          <a:prstGeom prst="rect">
            <a:avLst/>
          </a:prstGeom>
          <a:solidFill>
            <a:srgbClr val="8534F3"/>
          </a:solidFill>
          <a:ln/>
        </p:spPr>
      </p:sp>
      <p:sp>
        <p:nvSpPr>
          <p:cNvPr id="8" name="QA:title"/>
          <p:cNvSpPr/>
          <p:nvPr/>
        </p:nvSpPr>
        <p:spPr>
          <a:xfrm>
            <a:off x="548640" y="3014345"/>
            <a:ext cx="8534187" cy="560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90-minute hands-on workshop</a:t>
            </a:r>
            <a:endParaRPr lang="en-US" sz="4200" dirty="0"/>
          </a:p>
        </p:txBody>
      </p:sp>
      <p:sp>
        <p:nvSpPr>
          <p:cNvPr id="9" name="QA:subtitle"/>
          <p:cNvSpPr/>
          <p:nvPr/>
        </p:nvSpPr>
        <p:spPr>
          <a:xfrm>
            <a:off x="548640" y="3803015"/>
            <a:ext cx="853418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The app is the control room; the Book App is the work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A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1"/>
          </a:solidFill>
          <a:ln/>
        </p:spPr>
      </p:sp>
      <p:sp>
        <p:nvSpPr>
          <p:cNvPr id="3" name="QA:chrome"/>
          <p:cNvSpPr/>
          <p:nvPr/>
        </p:nvSpPr>
        <p:spPr>
          <a:xfrm>
            <a:off x="0" y="6454800"/>
            <a:ext cx="12191695" cy="18000"/>
          </a:xfrm>
          <a:prstGeom prst="rect">
            <a:avLst/>
          </a:prstGeom>
          <a:solidFill>
            <a:srgbClr val="8534F3"/>
          </a:solidFill>
          <a:ln/>
        </p:spPr>
      </p:sp>
      <p:sp>
        <p:nvSpPr>
          <p:cNvPr id="4" name="QA:chrome"/>
          <p:cNvSpPr/>
          <p:nvPr/>
        </p:nvSpPr>
        <p:spPr>
          <a:xfrm>
            <a:off x="548640" y="6526800"/>
            <a:ext cx="4572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09692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7</a:t>
            </a:r>
            <a:endParaRPr lang="en-US" sz="1200" dirty="0"/>
          </a:p>
        </p:txBody>
      </p:sp>
      <p:pic>
        <p:nvPicPr>
          <p:cNvPr id="5" name="QA:chrome" descr="/Users/ekyritsi/copilot-worktrees/my-pptx-generator/ekyritsi-super-journey/assets/logos/GitHub_Invertoca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52495" y="6530400"/>
            <a:ext cx="259200" cy="252000"/>
          </a:xfrm>
          <a:prstGeom prst="rect">
            <a:avLst/>
          </a:prstGeom>
        </p:spPr>
      </p:pic>
      <p:sp>
        <p:nvSpPr>
          <p:cNvPr id="6" name="QA:chrome"/>
          <p:cNvSpPr/>
          <p:nvPr/>
        </p:nvSpPr>
        <p:spPr>
          <a:xfrm>
            <a:off x="11669695" y="6472800"/>
            <a:ext cx="10800" cy="385200"/>
          </a:xfrm>
          <a:prstGeom prst="rect">
            <a:avLst/>
          </a:prstGeom>
          <a:solidFill>
            <a:srgbClr val="909692"/>
          </a:solidFill>
          <a:ln/>
        </p:spPr>
      </p:sp>
      <p:sp>
        <p:nvSpPr>
          <p:cNvPr id="7" name="QA:slide_title"/>
          <p:cNvSpPr/>
          <p:nvPr/>
        </p:nvSpPr>
        <p:spPr>
          <a:xfrm>
            <a:off x="548640" y="22860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GitHub + Copilot: from code to collaboration</a:t>
            </a:r>
            <a:endParaRPr lang="en-US" sz="2800" dirty="0"/>
          </a:p>
        </p:txBody>
      </p:sp>
      <p:graphicFrame>
        <p:nvGraphicFramePr>
          <p:cNvPr id="8" name="QA: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11094415" cy="914400"/>
        </p:xfrm>
        <a:graphic>
          <a:graphicData uri="http://schemas.openxmlformats.org/drawingml/2006/table">
            <a:tbl>
              <a:tblPr/>
              <a:tblGrid>
                <a:gridCol w="5547208"/>
                <a:gridCol w="5547208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Part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37160" marR="13716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853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1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Role in the work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37160" marR="13716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853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13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B0BAC3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GitHub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37160" marR="13716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F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B0BAC3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Shared repositories, issues, branches, pull requests, and reviews.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37160" marR="13716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F2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B0BAC3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Copilot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37160" marR="13716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8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B0BAC3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Understand code, explore options, draft changes, and create tests.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37160" marR="13716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82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B0BAC3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Agents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37160" marR="13716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F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B0BAC3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Take defined tasks; people direct, review, and decide what ships.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37160" marR="13716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F2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B0BAC3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Teams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37160" marR="13716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8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B0BAC3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Reduce repetitive work while staying accountable for quality.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37160" marR="13716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82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A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1"/>
          </a:solidFill>
          <a:ln/>
        </p:spPr>
      </p:sp>
      <p:sp>
        <p:nvSpPr>
          <p:cNvPr id="3" name="QA:chrome"/>
          <p:cNvSpPr/>
          <p:nvPr/>
        </p:nvSpPr>
        <p:spPr>
          <a:xfrm>
            <a:off x="0" y="6454800"/>
            <a:ext cx="12191695" cy="18000"/>
          </a:xfrm>
          <a:prstGeom prst="rect">
            <a:avLst/>
          </a:prstGeom>
          <a:solidFill>
            <a:srgbClr val="8534F3"/>
          </a:solidFill>
          <a:ln/>
        </p:spPr>
      </p:sp>
      <p:sp>
        <p:nvSpPr>
          <p:cNvPr id="4" name="QA:chrome"/>
          <p:cNvSpPr/>
          <p:nvPr/>
        </p:nvSpPr>
        <p:spPr>
          <a:xfrm>
            <a:off x="548640" y="6526800"/>
            <a:ext cx="4572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09692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8</a:t>
            </a:r>
            <a:endParaRPr lang="en-US" sz="1200" dirty="0"/>
          </a:p>
        </p:txBody>
      </p:sp>
      <p:pic>
        <p:nvPicPr>
          <p:cNvPr id="5" name="QA:chrome" descr="/Users/ekyritsi/copilot-worktrees/my-pptx-generator/ekyritsi-super-journey/assets/logos/GitHub_Invertoca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52495" y="6530400"/>
            <a:ext cx="259200" cy="252000"/>
          </a:xfrm>
          <a:prstGeom prst="rect">
            <a:avLst/>
          </a:prstGeom>
        </p:spPr>
      </p:pic>
      <p:sp>
        <p:nvSpPr>
          <p:cNvPr id="6" name="QA:chrome"/>
          <p:cNvSpPr/>
          <p:nvPr/>
        </p:nvSpPr>
        <p:spPr>
          <a:xfrm>
            <a:off x="11669695" y="6472800"/>
            <a:ext cx="10800" cy="385200"/>
          </a:xfrm>
          <a:prstGeom prst="rect">
            <a:avLst/>
          </a:prstGeom>
          <a:solidFill>
            <a:srgbClr val="909692"/>
          </a:solidFill>
          <a:ln/>
        </p:spPr>
      </p:sp>
      <p:sp>
        <p:nvSpPr>
          <p:cNvPr id="7" name="QA:slide_title"/>
          <p:cNvSpPr/>
          <p:nvPr/>
        </p:nvSpPr>
        <p:spPr>
          <a:xfrm>
            <a:off x="548640" y="22860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What is the GitHub Copilot app?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48640" y="2287092"/>
            <a:ext cx="1645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8534F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•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04672" y="2287092"/>
            <a:ext cx="10838383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A desktop workspace for working with Copilot agents across software tasks—not just</a:t>
            </a: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another chat window.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548640" y="3203524"/>
            <a:ext cx="1645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8534F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•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804672" y="3203524"/>
            <a:ext cx="1083838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Each session keeps a task's conversation and work together; worktrees can isolate changes.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548640" y="3789756"/>
            <a:ext cx="1645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8534F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•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804672" y="3789756"/>
            <a:ext cx="10838383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See and manage work in context: plans, file changes, terminal, browser preview, and</a:t>
            </a: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canvases.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548640" y="4706188"/>
            <a:ext cx="1645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8534F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•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804672" y="4706188"/>
            <a:ext cx="1083838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Coordinate multiple tasks, then inspect the evidence and decide what is ready to share.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A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1"/>
          </a:solidFill>
          <a:ln/>
        </p:spPr>
      </p:sp>
      <p:sp>
        <p:nvSpPr>
          <p:cNvPr id="3" name="QA:chrome"/>
          <p:cNvSpPr/>
          <p:nvPr/>
        </p:nvSpPr>
        <p:spPr>
          <a:xfrm>
            <a:off x="0" y="6454800"/>
            <a:ext cx="12191695" cy="18000"/>
          </a:xfrm>
          <a:prstGeom prst="rect">
            <a:avLst/>
          </a:prstGeom>
          <a:solidFill>
            <a:srgbClr val="8534F3"/>
          </a:solidFill>
          <a:ln/>
        </p:spPr>
      </p:sp>
      <p:sp>
        <p:nvSpPr>
          <p:cNvPr id="4" name="QA:chrome"/>
          <p:cNvSpPr/>
          <p:nvPr/>
        </p:nvSpPr>
        <p:spPr>
          <a:xfrm>
            <a:off x="548640" y="6526800"/>
            <a:ext cx="4572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09692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9</a:t>
            </a:r>
            <a:endParaRPr lang="en-US" sz="1200" dirty="0"/>
          </a:p>
        </p:txBody>
      </p:sp>
      <p:pic>
        <p:nvPicPr>
          <p:cNvPr id="5" name="QA:chrome" descr="/Users/ekyritsi/copilot-worktrees/my-pptx-generator/ekyritsi-super-journey/assets/logos/GitHub_Invertoca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52495" y="6530400"/>
            <a:ext cx="259200" cy="252000"/>
          </a:xfrm>
          <a:prstGeom prst="rect">
            <a:avLst/>
          </a:prstGeom>
        </p:spPr>
      </p:pic>
      <p:sp>
        <p:nvSpPr>
          <p:cNvPr id="6" name="QA:chrome"/>
          <p:cNvSpPr/>
          <p:nvPr/>
        </p:nvSpPr>
        <p:spPr>
          <a:xfrm>
            <a:off x="11669695" y="6472800"/>
            <a:ext cx="10800" cy="385200"/>
          </a:xfrm>
          <a:prstGeom prst="rect">
            <a:avLst/>
          </a:prstGeom>
          <a:solidFill>
            <a:srgbClr val="909692"/>
          </a:solidFill>
          <a:ln/>
        </p:spPr>
      </p:sp>
      <p:sp>
        <p:nvSpPr>
          <p:cNvPr id="7" name="QA:slide_title"/>
          <p:cNvSpPr/>
          <p:nvPr/>
        </p:nvSpPr>
        <p:spPr>
          <a:xfrm>
            <a:off x="548640" y="22860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Skills and agents: guidance meets a focused role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48640" y="2287092"/>
            <a:ext cx="1645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8534F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•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04672" y="2287092"/>
            <a:ext cx="1083838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A skill packages reusable instructions and resources for a task that comes up repeatedly.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548640" y="2873324"/>
            <a:ext cx="1645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8534F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•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804672" y="2873324"/>
            <a:ext cx="10838383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Example: book-app-reviewer gives Copilot a consistent checklist for filters, stats, and</a:t>
            </a: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accessibility.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548640" y="3789756"/>
            <a:ext cx="1645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8534F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•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804672" y="3789756"/>
            <a:ext cx="1083838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A custom agent is a named specialist with its own role instructions and selected tools.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548640" y="4375988"/>
            <a:ext cx="1645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8534F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•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804672" y="4375988"/>
            <a:ext cx="10838383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Example: Book App Reviewer uses that role to create a read-only checklist; a person still</a:t>
            </a: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verifies the diff and evidence.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A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1"/>
          </a:solidFill>
          <a:ln/>
        </p:spPr>
      </p:sp>
      <p:sp>
        <p:nvSpPr>
          <p:cNvPr id="3" name="QA:chrome"/>
          <p:cNvSpPr/>
          <p:nvPr/>
        </p:nvSpPr>
        <p:spPr>
          <a:xfrm>
            <a:off x="0" y="6454800"/>
            <a:ext cx="12191695" cy="18000"/>
          </a:xfrm>
          <a:prstGeom prst="rect">
            <a:avLst/>
          </a:prstGeom>
          <a:solidFill>
            <a:srgbClr val="8534F3"/>
          </a:solidFill>
          <a:ln/>
        </p:spPr>
      </p:sp>
      <p:sp>
        <p:nvSpPr>
          <p:cNvPr id="4" name="QA:chrome"/>
          <p:cNvSpPr/>
          <p:nvPr/>
        </p:nvSpPr>
        <p:spPr>
          <a:xfrm>
            <a:off x="548640" y="6526800"/>
            <a:ext cx="4572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09692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10</a:t>
            </a:r>
            <a:endParaRPr lang="en-US" sz="1200" dirty="0"/>
          </a:p>
        </p:txBody>
      </p:sp>
      <p:pic>
        <p:nvPicPr>
          <p:cNvPr id="5" name="QA:chrome" descr="/Users/ekyritsi/copilot-worktrees/my-pptx-generator/ekyritsi-super-journey/assets/logos/GitHub_Invertoca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52495" y="6530400"/>
            <a:ext cx="259200" cy="252000"/>
          </a:xfrm>
          <a:prstGeom prst="rect">
            <a:avLst/>
          </a:prstGeom>
        </p:spPr>
      </p:pic>
      <p:sp>
        <p:nvSpPr>
          <p:cNvPr id="6" name="QA:chrome"/>
          <p:cNvSpPr/>
          <p:nvPr/>
        </p:nvSpPr>
        <p:spPr>
          <a:xfrm>
            <a:off x="11669695" y="6472800"/>
            <a:ext cx="10800" cy="385200"/>
          </a:xfrm>
          <a:prstGeom prst="rect">
            <a:avLst/>
          </a:prstGeom>
          <a:solidFill>
            <a:srgbClr val="909692"/>
          </a:solidFill>
          <a:ln/>
        </p:spPr>
      </p:sp>
      <p:sp>
        <p:nvSpPr>
          <p:cNvPr id="7" name="QA:slide_title"/>
          <p:cNvSpPr/>
          <p:nvPr/>
        </p:nvSpPr>
        <p:spPr>
          <a:xfrm>
            <a:off x="548640" y="22860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The GitHub work loop</a:t>
            </a:r>
            <a:endParaRPr lang="en-US" sz="2800" dirty="0"/>
          </a:p>
        </p:txBody>
      </p:sp>
      <p:graphicFrame>
        <p:nvGraphicFramePr>
          <p:cNvPr id="11" name="QA: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11094415" cy="914400"/>
        </p:xfrm>
        <a:graphic>
          <a:graphicData uri="http://schemas.openxmlformats.org/drawingml/2006/table">
            <a:tbl>
              <a:tblPr/>
              <a:tblGrid>
                <a:gridCol w="5547208"/>
                <a:gridCol w="5547208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Stage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37160" marR="13716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853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1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What happens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37160" marR="13716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853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13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B0BAC3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Describe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37160" marR="13716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F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B0BAC3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State the need and what success looks like.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37160" marR="13716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F2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B0BAC3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Plan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37160" marR="13716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8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B0BAC3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Review the approach before implementation.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37160" marR="13716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82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B0BAC3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Build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37160" marR="13716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F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B0BAC3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Make a focused change in an isolated worktree.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37160" marR="13716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F2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B0BAC3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Prove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37160" marR="13716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8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B0BAC3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Review the diff, checks, and behavior.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37160" marR="13716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82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A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1"/>
          </a:solidFill>
          <a:ln/>
        </p:spPr>
      </p:sp>
      <p:sp>
        <p:nvSpPr>
          <p:cNvPr id="3" name="QA:chrome"/>
          <p:cNvSpPr/>
          <p:nvPr/>
        </p:nvSpPr>
        <p:spPr>
          <a:xfrm>
            <a:off x="0" y="6454800"/>
            <a:ext cx="12191695" cy="18000"/>
          </a:xfrm>
          <a:prstGeom prst="rect">
            <a:avLst/>
          </a:prstGeom>
          <a:solidFill>
            <a:srgbClr val="8534F3"/>
          </a:solidFill>
          <a:ln/>
        </p:spPr>
      </p:sp>
      <p:sp>
        <p:nvSpPr>
          <p:cNvPr id="4" name="QA:chrome"/>
          <p:cNvSpPr/>
          <p:nvPr/>
        </p:nvSpPr>
        <p:spPr>
          <a:xfrm>
            <a:off x="548640" y="6526800"/>
            <a:ext cx="4572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09692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11</a:t>
            </a:r>
            <a:endParaRPr lang="en-US" sz="1200" dirty="0"/>
          </a:p>
        </p:txBody>
      </p:sp>
      <p:pic>
        <p:nvPicPr>
          <p:cNvPr id="5" name="QA:chrome" descr="/Users/ekyritsi/copilot-worktrees/my-pptx-generator/ekyritsi-super-journey/assets/logos/GitHub_Invertoca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52495" y="6530400"/>
            <a:ext cx="259200" cy="252000"/>
          </a:xfrm>
          <a:prstGeom prst="rect">
            <a:avLst/>
          </a:prstGeom>
        </p:spPr>
      </p:pic>
      <p:sp>
        <p:nvSpPr>
          <p:cNvPr id="6" name="QA:chrome"/>
          <p:cNvSpPr/>
          <p:nvPr/>
        </p:nvSpPr>
        <p:spPr>
          <a:xfrm>
            <a:off x="11669695" y="6472800"/>
            <a:ext cx="10800" cy="385200"/>
          </a:xfrm>
          <a:prstGeom prst="rect">
            <a:avLst/>
          </a:prstGeom>
          <a:solidFill>
            <a:srgbClr val="909692"/>
          </a:solidFill>
          <a:ln/>
        </p:spPr>
      </p:sp>
      <p:sp>
        <p:nvSpPr>
          <p:cNvPr id="7" name="QA:slide_title"/>
          <p:cNvSpPr/>
          <p:nvPr/>
        </p:nvSpPr>
        <p:spPr>
          <a:xfrm>
            <a:off x="548640" y="22860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90 minutes · the learning path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48640" y="1737944"/>
            <a:ext cx="1645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8534F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•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04672" y="1737944"/>
            <a:ext cx="1083838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0–10 · Orient in the app, connect GitHub/Copilot concepts, and tour the Book App.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548640" y="2324176"/>
            <a:ext cx="1645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8534F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•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804672" y="2324176"/>
            <a:ext cx="1083838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10–20 · Frame Clear filters and its acceptance criteria.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548640" y="2910408"/>
            <a:ext cx="1645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8534F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•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804672" y="2910408"/>
            <a:ext cx="1083838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20–32 · Plan Session A; create a read-only review checklist in Session B.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548640" y="3496640"/>
            <a:ext cx="1645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8534F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•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804672" y="3496640"/>
            <a:ext cx="1083838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32–42 · Mini-teach: sessions, worktrees, modes, agents, and skills.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548640" y="4082872"/>
            <a:ext cx="1645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8534F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•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804672" y="4082872"/>
            <a:ext cx="1083838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42–62 · Implement in one session; finish the checklist in the other.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548640" y="4669104"/>
            <a:ext cx="1645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8534F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•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804672" y="4669104"/>
            <a:ext cx="1083838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62–78 · Use a canvas, inspect changes, run checks, and validate in Browser.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548640" y="5255336"/>
            <a:ext cx="1645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8534F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•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804672" y="5255336"/>
            <a:ext cx="1083838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78–90 · Compare evidence, debrief, and close.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A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1"/>
          </a:solidFill>
          <a:ln/>
        </p:spPr>
      </p:sp>
      <p:sp>
        <p:nvSpPr>
          <p:cNvPr id="3" name="QA:chrome"/>
          <p:cNvSpPr/>
          <p:nvPr/>
        </p:nvSpPr>
        <p:spPr>
          <a:xfrm>
            <a:off x="0" y="6454800"/>
            <a:ext cx="12191695" cy="18000"/>
          </a:xfrm>
          <a:prstGeom prst="rect">
            <a:avLst/>
          </a:prstGeom>
          <a:solidFill>
            <a:srgbClr val="8534F3"/>
          </a:solidFill>
          <a:ln/>
        </p:spPr>
      </p:sp>
      <p:sp>
        <p:nvSpPr>
          <p:cNvPr id="4" name="QA:chrome"/>
          <p:cNvSpPr/>
          <p:nvPr/>
        </p:nvSpPr>
        <p:spPr>
          <a:xfrm>
            <a:off x="548640" y="6526800"/>
            <a:ext cx="4572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09692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12</a:t>
            </a:r>
            <a:endParaRPr lang="en-US" sz="1200" dirty="0"/>
          </a:p>
        </p:txBody>
      </p:sp>
      <p:pic>
        <p:nvPicPr>
          <p:cNvPr id="5" name="QA:chrome" descr="/Users/ekyritsi/copilot-worktrees/my-pptx-generator/ekyritsi-super-journey/assets/logos/GitHub_Invertoca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52495" y="6530400"/>
            <a:ext cx="259200" cy="252000"/>
          </a:xfrm>
          <a:prstGeom prst="rect">
            <a:avLst/>
          </a:prstGeom>
        </p:spPr>
      </p:pic>
      <p:sp>
        <p:nvSpPr>
          <p:cNvPr id="6" name="QA:chrome"/>
          <p:cNvSpPr/>
          <p:nvPr/>
        </p:nvSpPr>
        <p:spPr>
          <a:xfrm>
            <a:off x="11669695" y="6472800"/>
            <a:ext cx="10800" cy="385200"/>
          </a:xfrm>
          <a:prstGeom prst="rect">
            <a:avLst/>
          </a:prstGeom>
          <a:solidFill>
            <a:srgbClr val="909692"/>
          </a:solidFill>
          <a:ln/>
        </p:spPr>
      </p:sp>
      <p:sp>
        <p:nvSpPr>
          <p:cNvPr id="7" name="QA:slide_title"/>
          <p:cNvSpPr/>
          <p:nvPr/>
        </p:nvSpPr>
        <p:spPr>
          <a:xfrm>
            <a:off x="548640" y="22860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Start with the Book App</a:t>
            </a:r>
            <a:endParaRPr lang="en-US" sz="2800" dirty="0"/>
          </a:p>
        </p:txBody>
      </p:sp>
      <p:graphicFrame>
        <p:nvGraphicFramePr>
          <p:cNvPr id="13" name="QA: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11094415" cy="914400"/>
        </p:xfrm>
        <a:graphic>
          <a:graphicData uri="http://schemas.openxmlformats.org/drawingml/2006/table">
            <a:tbl>
              <a:tblPr/>
              <a:tblGrid>
                <a:gridCol w="5547208"/>
                <a:gridCol w="5547208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Feature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37160" marR="13716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853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1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Show learners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37160" marR="13716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853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13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B0BAC3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Search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37160" marR="13716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F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B0BAC3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Find books by title or author.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37160" marR="13716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F2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B0BAC3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Filters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37160" marR="13716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8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B0BAC3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Narrow by genre and reading status.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37160" marR="13716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82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B0BAC3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Reading stats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37160" marR="13716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F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B0BAC3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See totals for books currently shown.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37160" marR="13716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F2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B0BAC3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Empty state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37160" marR="13716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8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B0BAC3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Search/filter combination with no results.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37160" marR="13716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82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A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1"/>
          </a:solidFill>
          <a:ln/>
        </p:spPr>
      </p:sp>
      <p:sp>
        <p:nvSpPr>
          <p:cNvPr id="3" name="QA:chrome"/>
          <p:cNvSpPr/>
          <p:nvPr/>
        </p:nvSpPr>
        <p:spPr>
          <a:xfrm>
            <a:off x="0" y="6454800"/>
            <a:ext cx="12191695" cy="18000"/>
          </a:xfrm>
          <a:prstGeom prst="rect">
            <a:avLst/>
          </a:prstGeom>
          <a:solidFill>
            <a:srgbClr val="8534F3"/>
          </a:solidFill>
          <a:ln/>
        </p:spPr>
      </p:sp>
      <p:sp>
        <p:nvSpPr>
          <p:cNvPr id="4" name="QA:chrome"/>
          <p:cNvSpPr/>
          <p:nvPr/>
        </p:nvSpPr>
        <p:spPr>
          <a:xfrm>
            <a:off x="548640" y="6526800"/>
            <a:ext cx="4572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09692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13</a:t>
            </a:r>
            <a:endParaRPr lang="en-US" sz="1200" dirty="0"/>
          </a:p>
        </p:txBody>
      </p:sp>
      <p:pic>
        <p:nvPicPr>
          <p:cNvPr id="5" name="QA:chrome" descr="/Users/ekyritsi/copilot-worktrees/my-pptx-generator/ekyritsi-super-journey/assets/logos/GitHub_Invertoca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52495" y="6530400"/>
            <a:ext cx="259200" cy="252000"/>
          </a:xfrm>
          <a:prstGeom prst="rect">
            <a:avLst/>
          </a:prstGeom>
        </p:spPr>
      </p:pic>
      <p:sp>
        <p:nvSpPr>
          <p:cNvPr id="6" name="QA:chrome"/>
          <p:cNvSpPr/>
          <p:nvPr/>
        </p:nvSpPr>
        <p:spPr>
          <a:xfrm>
            <a:off x="11669695" y="6472800"/>
            <a:ext cx="10800" cy="385200"/>
          </a:xfrm>
          <a:prstGeom prst="rect">
            <a:avLst/>
          </a:prstGeom>
          <a:solidFill>
            <a:srgbClr val="909692"/>
          </a:solidFill>
          <a:ln/>
        </p:spPr>
      </p:sp>
      <p:sp>
        <p:nvSpPr>
          <p:cNvPr id="7" name="QA:slide_title"/>
          <p:cNvSpPr/>
          <p:nvPr/>
        </p:nvSpPr>
        <p:spPr>
          <a:xfrm>
            <a:off x="548640" y="22860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The challenge · Clear filters</a:t>
            </a:r>
            <a:endParaRPr lang="en-US" sz="2800" dirty="0"/>
          </a:p>
        </p:txBody>
      </p:sp>
      <p:sp>
        <p:nvSpPr>
          <p:cNvPr id="8" name="QA:card"/>
          <p:cNvSpPr/>
          <p:nvPr/>
        </p:nvSpPr>
        <p:spPr>
          <a:xfrm>
            <a:off x="548640" y="1005840"/>
            <a:ext cx="11094415" cy="5311800"/>
          </a:xfrm>
          <a:prstGeom prst="roundRect">
            <a:avLst>
              <a:gd name="adj" fmla="val 2754"/>
            </a:avLst>
          </a:prstGeom>
          <a:solidFill>
            <a:srgbClr val="20262C"/>
          </a:solidFill>
          <a:ln w="9525">
            <a:solidFill>
              <a:srgbClr val="5A615C"/>
            </a:solidFill>
            <a:prstDash val="solid"/>
          </a:ln>
        </p:spPr>
      </p:sp>
      <p:sp>
        <p:nvSpPr>
          <p:cNvPr id="9" name="QA:check:0"/>
          <p:cNvSpPr/>
          <p:nvPr/>
        </p:nvSpPr>
        <p:spPr>
          <a:xfrm>
            <a:off x="914400" y="1605554"/>
            <a:ext cx="411480" cy="411480"/>
          </a:xfrm>
          <a:prstGeom prst="roundRect">
            <a:avLst>
              <a:gd name="adj" fmla="val 50000"/>
            </a:avLst>
          </a:prstGeom>
          <a:ln w="19050">
            <a:solidFill>
              <a:srgbClr val="909692"/>
            </a:solidFill>
            <a:prstDash val="solid"/>
          </a:ln>
        </p:spPr>
      </p:sp>
      <p:sp>
        <p:nvSpPr>
          <p:cNvPr id="10" name="QA:heading:0"/>
          <p:cNvSpPr/>
          <p:nvPr/>
        </p:nvSpPr>
        <p:spPr>
          <a:xfrm>
            <a:off x="1645920" y="1658894"/>
            <a:ext cx="9631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Show the control only when search, genre, or reading status is active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914400" y="2421759"/>
            <a:ext cx="10362895" cy="12700"/>
          </a:xfrm>
          <a:prstGeom prst="rect">
            <a:avLst/>
          </a:prstGeom>
          <a:solidFill>
            <a:srgbClr val="5A615C"/>
          </a:solidFill>
          <a:ln/>
        </p:spPr>
      </p:sp>
      <p:sp>
        <p:nvSpPr>
          <p:cNvPr id="12" name="QA:check:1"/>
          <p:cNvSpPr/>
          <p:nvPr/>
        </p:nvSpPr>
        <p:spPr>
          <a:xfrm>
            <a:off x="914400" y="2839185"/>
            <a:ext cx="411480" cy="411480"/>
          </a:xfrm>
          <a:prstGeom prst="roundRect">
            <a:avLst>
              <a:gd name="adj" fmla="val 50000"/>
            </a:avLst>
          </a:prstGeom>
          <a:ln w="19050">
            <a:solidFill>
              <a:srgbClr val="909692"/>
            </a:solidFill>
            <a:prstDash val="solid"/>
          </a:ln>
        </p:spPr>
      </p:sp>
      <p:sp>
        <p:nvSpPr>
          <p:cNvPr id="13" name="QA:heading:1"/>
          <p:cNvSpPr/>
          <p:nvPr/>
        </p:nvSpPr>
        <p:spPr>
          <a:xfrm>
            <a:off x="1645920" y="2892525"/>
            <a:ext cx="9631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Selecting it resets all three filters to their defaults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914400" y="3655390"/>
            <a:ext cx="10362895" cy="12700"/>
          </a:xfrm>
          <a:prstGeom prst="rect">
            <a:avLst/>
          </a:prstGeom>
          <a:solidFill>
            <a:srgbClr val="5A615C"/>
          </a:solidFill>
          <a:ln/>
        </p:spPr>
      </p:sp>
      <p:sp>
        <p:nvSpPr>
          <p:cNvPr id="15" name="QA:check:2"/>
          <p:cNvSpPr/>
          <p:nvPr/>
        </p:nvSpPr>
        <p:spPr>
          <a:xfrm>
            <a:off x="914400" y="4072815"/>
            <a:ext cx="411480" cy="411480"/>
          </a:xfrm>
          <a:prstGeom prst="roundRect">
            <a:avLst>
              <a:gd name="adj" fmla="val 50000"/>
            </a:avLst>
          </a:prstGeom>
          <a:ln w="19050">
            <a:solidFill>
              <a:srgbClr val="909692"/>
            </a:solidFill>
            <a:prstDash val="solid"/>
          </a:ln>
        </p:spPr>
      </p:sp>
      <p:sp>
        <p:nvSpPr>
          <p:cNvPr id="16" name="QA:heading:2"/>
          <p:cNvSpPr/>
          <p:nvPr/>
        </p:nvSpPr>
        <p:spPr>
          <a:xfrm>
            <a:off x="1645920" y="4126155"/>
            <a:ext cx="9631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The full book list and its reading stats return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914400" y="4889021"/>
            <a:ext cx="10362895" cy="12700"/>
          </a:xfrm>
          <a:prstGeom prst="rect">
            <a:avLst/>
          </a:prstGeom>
          <a:solidFill>
            <a:srgbClr val="5A615C"/>
          </a:solidFill>
          <a:ln/>
        </p:spPr>
      </p:sp>
      <p:sp>
        <p:nvSpPr>
          <p:cNvPr id="18" name="QA:check:3"/>
          <p:cNvSpPr/>
          <p:nvPr/>
        </p:nvSpPr>
        <p:spPr>
          <a:xfrm>
            <a:off x="914400" y="5306446"/>
            <a:ext cx="411480" cy="411480"/>
          </a:xfrm>
          <a:prstGeom prst="roundRect">
            <a:avLst>
              <a:gd name="adj" fmla="val 50000"/>
            </a:avLst>
          </a:prstGeom>
          <a:ln w="19050">
            <a:solidFill>
              <a:srgbClr val="909692"/>
            </a:solidFill>
            <a:prstDash val="solid"/>
          </a:ln>
        </p:spPr>
      </p:sp>
      <p:sp>
        <p:nvSpPr>
          <p:cNvPr id="19" name="QA:heading:3"/>
          <p:cNvSpPr/>
          <p:nvPr/>
        </p:nvSpPr>
        <p:spPr>
          <a:xfrm>
            <a:off x="1645920" y="5359786"/>
            <a:ext cx="9631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Keep the change small; preserve existing behavior and dependencies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A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1"/>
          </a:solidFill>
          <a:ln/>
        </p:spPr>
      </p:sp>
      <p:sp>
        <p:nvSpPr>
          <p:cNvPr id="3" name="QA:chrome"/>
          <p:cNvSpPr/>
          <p:nvPr/>
        </p:nvSpPr>
        <p:spPr>
          <a:xfrm>
            <a:off x="0" y="6454800"/>
            <a:ext cx="12191695" cy="18000"/>
          </a:xfrm>
          <a:prstGeom prst="rect">
            <a:avLst/>
          </a:prstGeom>
          <a:solidFill>
            <a:srgbClr val="8534F3"/>
          </a:solidFill>
          <a:ln/>
        </p:spPr>
      </p:sp>
      <p:sp>
        <p:nvSpPr>
          <p:cNvPr id="4" name="QA:chrome"/>
          <p:cNvSpPr/>
          <p:nvPr/>
        </p:nvSpPr>
        <p:spPr>
          <a:xfrm>
            <a:off x="548640" y="6526800"/>
            <a:ext cx="4572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09692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14</a:t>
            </a:r>
            <a:endParaRPr lang="en-US" sz="1200" dirty="0"/>
          </a:p>
        </p:txBody>
      </p:sp>
      <p:pic>
        <p:nvPicPr>
          <p:cNvPr id="5" name="QA:chrome" descr="/Users/ekyritsi/copilot-worktrees/my-pptx-generator/ekyritsi-super-journey/assets/logos/GitHub_Invertoca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52495" y="6530400"/>
            <a:ext cx="259200" cy="252000"/>
          </a:xfrm>
          <a:prstGeom prst="rect">
            <a:avLst/>
          </a:prstGeom>
        </p:spPr>
      </p:pic>
      <p:sp>
        <p:nvSpPr>
          <p:cNvPr id="6" name="QA:chrome"/>
          <p:cNvSpPr/>
          <p:nvPr/>
        </p:nvSpPr>
        <p:spPr>
          <a:xfrm>
            <a:off x="11669695" y="6472800"/>
            <a:ext cx="10800" cy="385200"/>
          </a:xfrm>
          <a:prstGeom prst="rect">
            <a:avLst/>
          </a:prstGeom>
          <a:solidFill>
            <a:srgbClr val="909692"/>
          </a:solidFill>
          <a:ln/>
        </p:spPr>
      </p:sp>
      <p:sp>
        <p:nvSpPr>
          <p:cNvPr id="7" name="QA:slide_title"/>
          <p:cNvSpPr/>
          <p:nvPr/>
        </p:nvSpPr>
        <p:spPr>
          <a:xfrm>
            <a:off x="548640" y="22860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Show the app, not just chat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48640" y="2617292"/>
            <a:ext cx="1645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8534F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•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04672" y="2617292"/>
            <a:ext cx="1083838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New and project sessions start the right kind of work.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548640" y="3203524"/>
            <a:ext cx="1645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8534F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•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804672" y="3203524"/>
            <a:ext cx="1083838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Plan mode lets you review an approach before implementation.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548640" y="3789756"/>
            <a:ext cx="1645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8534F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•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804672" y="3789756"/>
            <a:ext cx="1083838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Changes, Terminal, and Browser keep code and evidence in context.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548640" y="4375988"/>
            <a:ext cx="1645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8534F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•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804672" y="4375988"/>
            <a:ext cx="1083838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Customize and Canvas manage reusable help and visible work state.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A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1"/>
          </a:solidFill>
          <a:ln/>
        </p:spPr>
      </p:sp>
      <p:sp>
        <p:nvSpPr>
          <p:cNvPr id="3" name="QA:chrome"/>
          <p:cNvSpPr/>
          <p:nvPr/>
        </p:nvSpPr>
        <p:spPr>
          <a:xfrm>
            <a:off x="0" y="6454800"/>
            <a:ext cx="12191695" cy="18000"/>
          </a:xfrm>
          <a:prstGeom prst="rect">
            <a:avLst/>
          </a:prstGeom>
          <a:solidFill>
            <a:srgbClr val="8534F3"/>
          </a:solidFill>
          <a:ln/>
        </p:spPr>
      </p:sp>
      <p:sp>
        <p:nvSpPr>
          <p:cNvPr id="4" name="QA:chrome"/>
          <p:cNvSpPr/>
          <p:nvPr/>
        </p:nvSpPr>
        <p:spPr>
          <a:xfrm>
            <a:off x="548640" y="6526800"/>
            <a:ext cx="4572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09692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15</a:t>
            </a:r>
            <a:endParaRPr lang="en-US" sz="1200" dirty="0"/>
          </a:p>
        </p:txBody>
      </p:sp>
      <p:pic>
        <p:nvPicPr>
          <p:cNvPr id="5" name="QA:chrome" descr="/Users/ekyritsi/copilot-worktrees/my-pptx-generator/ekyritsi-super-journey/assets/logos/GitHub_Invertoca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52495" y="6530400"/>
            <a:ext cx="259200" cy="252000"/>
          </a:xfrm>
          <a:prstGeom prst="rect">
            <a:avLst/>
          </a:prstGeom>
        </p:spPr>
      </p:pic>
      <p:sp>
        <p:nvSpPr>
          <p:cNvPr id="6" name="QA:chrome"/>
          <p:cNvSpPr/>
          <p:nvPr/>
        </p:nvSpPr>
        <p:spPr>
          <a:xfrm>
            <a:off x="11669695" y="6472800"/>
            <a:ext cx="10800" cy="385200"/>
          </a:xfrm>
          <a:prstGeom prst="rect">
            <a:avLst/>
          </a:prstGeom>
          <a:solidFill>
            <a:srgbClr val="909692"/>
          </a:solidFill>
          <a:ln/>
        </p:spPr>
      </p:sp>
      <p:sp>
        <p:nvSpPr>
          <p:cNvPr id="7" name="QA:slide_title"/>
          <p:cNvSpPr/>
          <p:nvPr/>
        </p:nvSpPr>
        <p:spPr>
          <a:xfrm>
            <a:off x="548640" y="22860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Describe → plan → build → prove</a:t>
            </a:r>
            <a:endParaRPr lang="en-US" sz="2800" dirty="0"/>
          </a:p>
        </p:txBody>
      </p:sp>
      <p:graphicFrame>
        <p:nvGraphicFramePr>
          <p:cNvPr id="16" name="QA: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11094415" cy="914400"/>
        </p:xfrm>
        <a:graphic>
          <a:graphicData uri="http://schemas.openxmlformats.org/drawingml/2006/table">
            <a:tbl>
              <a:tblPr/>
              <a:tblGrid>
                <a:gridCol w="5547208"/>
                <a:gridCol w="5547208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Stage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37160" marR="13716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853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1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What the learner does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37160" marR="13716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853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13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B0BAC3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Describe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37160" marR="13716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F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B0BAC3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State the user need and observable acceptance criteria.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37160" marR="13716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F2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B0BAC3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Plan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37160" marR="13716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8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B0BAC3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Inspect the approach before allowing implementation.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37160" marR="13716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82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B0BAC3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Build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37160" marR="13716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F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B0BAC3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Implement in an isolated worktree; use a second session for review criteria.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37160" marR="13716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F2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B0BAC3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Prove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37160" marR="13716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8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B0BAC3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Check the diff, tests, build, browser behavior, and canvas evidence.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37160" marR="13716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82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A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1"/>
          </a:solidFill>
          <a:ln/>
        </p:spPr>
      </p:sp>
      <p:sp>
        <p:nvSpPr>
          <p:cNvPr id="3" name="QA:chrome"/>
          <p:cNvSpPr/>
          <p:nvPr/>
        </p:nvSpPr>
        <p:spPr>
          <a:xfrm>
            <a:off x="0" y="6454800"/>
            <a:ext cx="12191695" cy="18000"/>
          </a:xfrm>
          <a:prstGeom prst="rect">
            <a:avLst/>
          </a:prstGeom>
          <a:solidFill>
            <a:srgbClr val="8534F3"/>
          </a:solidFill>
          <a:ln/>
        </p:spPr>
      </p:sp>
      <p:sp>
        <p:nvSpPr>
          <p:cNvPr id="4" name="QA:chrome"/>
          <p:cNvSpPr/>
          <p:nvPr/>
        </p:nvSpPr>
        <p:spPr>
          <a:xfrm>
            <a:off x="548640" y="6526800"/>
            <a:ext cx="4572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09692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16</a:t>
            </a:r>
            <a:endParaRPr lang="en-US" sz="1200" dirty="0"/>
          </a:p>
        </p:txBody>
      </p:sp>
      <p:pic>
        <p:nvPicPr>
          <p:cNvPr id="5" name="QA:chrome" descr="/Users/ekyritsi/copilot-worktrees/my-pptx-generator/ekyritsi-super-journey/assets/logos/GitHub_Invertoca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52495" y="6530400"/>
            <a:ext cx="259200" cy="252000"/>
          </a:xfrm>
          <a:prstGeom prst="rect">
            <a:avLst/>
          </a:prstGeom>
        </p:spPr>
      </p:pic>
      <p:sp>
        <p:nvSpPr>
          <p:cNvPr id="6" name="QA:chrome"/>
          <p:cNvSpPr/>
          <p:nvPr/>
        </p:nvSpPr>
        <p:spPr>
          <a:xfrm>
            <a:off x="11669695" y="6472800"/>
            <a:ext cx="10800" cy="385200"/>
          </a:xfrm>
          <a:prstGeom prst="rect">
            <a:avLst/>
          </a:prstGeom>
          <a:solidFill>
            <a:srgbClr val="909692"/>
          </a:solidFill>
          <a:ln/>
        </p:spPr>
      </p:sp>
      <p:sp>
        <p:nvSpPr>
          <p:cNvPr id="7" name="QA:slide_title"/>
          <p:cNvSpPr/>
          <p:nvPr/>
        </p:nvSpPr>
        <p:spPr>
          <a:xfrm>
            <a:off x="548640" y="22860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Hands-on 1 · Build session</a:t>
            </a:r>
            <a:endParaRPr lang="en-US" sz="2800" dirty="0"/>
          </a:p>
        </p:txBody>
      </p:sp>
      <p:sp>
        <p:nvSpPr>
          <p:cNvPr id="8" name="QA:card"/>
          <p:cNvSpPr/>
          <p:nvPr/>
        </p:nvSpPr>
        <p:spPr>
          <a:xfrm>
            <a:off x="548640" y="1005840"/>
            <a:ext cx="11094415" cy="5311800"/>
          </a:xfrm>
          <a:prstGeom prst="roundRect">
            <a:avLst>
              <a:gd name="adj" fmla="val 2754"/>
            </a:avLst>
          </a:prstGeom>
          <a:solidFill>
            <a:srgbClr val="20262C"/>
          </a:solidFill>
          <a:ln w="9525">
            <a:solidFill>
              <a:srgbClr val="5A615C"/>
            </a:solidFill>
            <a:prstDash val="solid"/>
          </a:ln>
        </p:spPr>
      </p:sp>
      <p:sp>
        <p:nvSpPr>
          <p:cNvPr id="9" name="QA:check:0"/>
          <p:cNvSpPr/>
          <p:nvPr/>
        </p:nvSpPr>
        <p:spPr>
          <a:xfrm>
            <a:off x="914400" y="1525000"/>
            <a:ext cx="347472" cy="347472"/>
          </a:xfrm>
          <a:prstGeom prst="roundRect">
            <a:avLst>
              <a:gd name="adj" fmla="val 50000"/>
            </a:avLst>
          </a:prstGeom>
          <a:ln w="19050">
            <a:solidFill>
              <a:srgbClr val="909692"/>
            </a:solidFill>
            <a:prstDash val="solid"/>
          </a:ln>
        </p:spPr>
      </p:sp>
      <p:sp>
        <p:nvSpPr>
          <p:cNvPr id="10" name="QA:heading:0"/>
          <p:cNvSpPr/>
          <p:nvPr/>
        </p:nvSpPr>
        <p:spPr>
          <a:xfrm>
            <a:off x="1645920" y="1393936"/>
            <a:ext cx="963137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Create Session A from the default branch in a new worktree; name it Clear</a:t>
            </a:r>
            <a:endParaRPr lang="en-US" sz="2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filters build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914400" y="2183137"/>
            <a:ext cx="10362895" cy="12700"/>
          </a:xfrm>
          <a:prstGeom prst="rect">
            <a:avLst/>
          </a:prstGeom>
          <a:solidFill>
            <a:srgbClr val="5A615C"/>
          </a:solidFill>
          <a:ln/>
        </p:spPr>
      </p:sp>
      <p:sp>
        <p:nvSpPr>
          <p:cNvPr id="12" name="QA:check:1"/>
          <p:cNvSpPr/>
          <p:nvPr/>
        </p:nvSpPr>
        <p:spPr>
          <a:xfrm>
            <a:off x="914400" y="2506502"/>
            <a:ext cx="347472" cy="347472"/>
          </a:xfrm>
          <a:prstGeom prst="roundRect">
            <a:avLst>
              <a:gd name="adj" fmla="val 50000"/>
            </a:avLst>
          </a:prstGeom>
          <a:ln w="19050">
            <a:solidFill>
              <a:srgbClr val="909692"/>
            </a:solidFill>
            <a:prstDash val="solid"/>
          </a:ln>
        </p:spPr>
      </p:sp>
      <p:sp>
        <p:nvSpPr>
          <p:cNvPr id="13" name="QA:heading:1"/>
          <p:cNvSpPr/>
          <p:nvPr/>
        </p:nvSpPr>
        <p:spPr>
          <a:xfrm>
            <a:off x="1645920" y="2527838"/>
            <a:ext cx="9631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Use Plan mode and request a small implementation and validation plan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914400" y="3164639"/>
            <a:ext cx="10362895" cy="12700"/>
          </a:xfrm>
          <a:prstGeom prst="rect">
            <a:avLst/>
          </a:prstGeom>
          <a:solidFill>
            <a:srgbClr val="5A615C"/>
          </a:solidFill>
          <a:ln/>
        </p:spPr>
      </p:sp>
      <p:sp>
        <p:nvSpPr>
          <p:cNvPr id="15" name="QA:check:2"/>
          <p:cNvSpPr/>
          <p:nvPr/>
        </p:nvSpPr>
        <p:spPr>
          <a:xfrm>
            <a:off x="914400" y="3488004"/>
            <a:ext cx="347472" cy="347472"/>
          </a:xfrm>
          <a:prstGeom prst="roundRect">
            <a:avLst>
              <a:gd name="adj" fmla="val 50000"/>
            </a:avLst>
          </a:prstGeom>
          <a:ln w="19050">
            <a:solidFill>
              <a:srgbClr val="909692"/>
            </a:solidFill>
            <a:prstDash val="solid"/>
          </a:ln>
        </p:spPr>
      </p:sp>
      <p:sp>
        <p:nvSpPr>
          <p:cNvPr id="16" name="QA:heading:2"/>
          <p:cNvSpPr/>
          <p:nvPr/>
        </p:nvSpPr>
        <p:spPr>
          <a:xfrm>
            <a:off x="1645920" y="3509340"/>
            <a:ext cx="9631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Check the plan against the criteria; approve only when it fits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914400" y="4146141"/>
            <a:ext cx="10362895" cy="12700"/>
          </a:xfrm>
          <a:prstGeom prst="rect">
            <a:avLst/>
          </a:prstGeom>
          <a:solidFill>
            <a:srgbClr val="5A615C"/>
          </a:solidFill>
          <a:ln/>
        </p:spPr>
      </p:sp>
      <p:sp>
        <p:nvSpPr>
          <p:cNvPr id="18" name="QA:check:3"/>
          <p:cNvSpPr/>
          <p:nvPr/>
        </p:nvSpPr>
        <p:spPr>
          <a:xfrm>
            <a:off x="914400" y="4469506"/>
            <a:ext cx="347472" cy="347472"/>
          </a:xfrm>
          <a:prstGeom prst="roundRect">
            <a:avLst>
              <a:gd name="adj" fmla="val 50000"/>
            </a:avLst>
          </a:prstGeom>
          <a:ln w="19050">
            <a:solidFill>
              <a:srgbClr val="909692"/>
            </a:solidFill>
            <a:prstDash val="solid"/>
          </a:ln>
        </p:spPr>
      </p:sp>
      <p:sp>
        <p:nvSpPr>
          <p:cNvPr id="19" name="QA:heading:3"/>
          <p:cNvSpPr/>
          <p:nvPr/>
        </p:nvSpPr>
        <p:spPr>
          <a:xfrm>
            <a:off x="1645920" y="4490842"/>
            <a:ext cx="9631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Switch to Interactive and ask the agent to implement the approved plan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914400" y="5127643"/>
            <a:ext cx="10362895" cy="12700"/>
          </a:xfrm>
          <a:prstGeom prst="rect">
            <a:avLst/>
          </a:prstGeom>
          <a:solidFill>
            <a:srgbClr val="5A615C"/>
          </a:solidFill>
          <a:ln/>
        </p:spPr>
      </p:sp>
      <p:sp>
        <p:nvSpPr>
          <p:cNvPr id="21" name="QA:check:4"/>
          <p:cNvSpPr/>
          <p:nvPr/>
        </p:nvSpPr>
        <p:spPr>
          <a:xfrm>
            <a:off x="914400" y="5451008"/>
            <a:ext cx="347472" cy="347472"/>
          </a:xfrm>
          <a:prstGeom prst="roundRect">
            <a:avLst>
              <a:gd name="adj" fmla="val 50000"/>
            </a:avLst>
          </a:prstGeom>
          <a:ln w="19050">
            <a:solidFill>
              <a:srgbClr val="909692"/>
            </a:solidFill>
            <a:prstDash val="solid"/>
          </a:ln>
        </p:spPr>
      </p:sp>
      <p:sp>
        <p:nvSpPr>
          <p:cNvPr id="22" name="QA:heading:4"/>
          <p:cNvSpPr/>
          <p:nvPr/>
        </p:nvSpPr>
        <p:spPr>
          <a:xfrm>
            <a:off x="1645920" y="5472344"/>
            <a:ext cx="9631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Do not merge or push during the workshop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A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1"/>
          </a:solidFill>
          <a:ln/>
        </p:spPr>
      </p:sp>
      <p:sp>
        <p:nvSpPr>
          <p:cNvPr id="3" name="QA:chrome"/>
          <p:cNvSpPr/>
          <p:nvPr/>
        </p:nvSpPr>
        <p:spPr>
          <a:xfrm>
            <a:off x="0" y="6454800"/>
            <a:ext cx="12191695" cy="18000"/>
          </a:xfrm>
          <a:prstGeom prst="rect">
            <a:avLst/>
          </a:prstGeom>
          <a:solidFill>
            <a:srgbClr val="8534F3"/>
          </a:solidFill>
          <a:ln/>
        </p:spPr>
      </p:sp>
      <p:sp>
        <p:nvSpPr>
          <p:cNvPr id="4" name="QA:chrome"/>
          <p:cNvSpPr/>
          <p:nvPr/>
        </p:nvSpPr>
        <p:spPr>
          <a:xfrm>
            <a:off x="548640" y="6526800"/>
            <a:ext cx="4572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09692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17</a:t>
            </a:r>
            <a:endParaRPr lang="en-US" sz="1200" dirty="0"/>
          </a:p>
        </p:txBody>
      </p:sp>
      <p:pic>
        <p:nvPicPr>
          <p:cNvPr id="5" name="QA:chrome" descr="/Users/ekyritsi/copilot-worktrees/my-pptx-generator/ekyritsi-super-journey/assets/logos/GitHub_Invertoca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52495" y="6530400"/>
            <a:ext cx="259200" cy="252000"/>
          </a:xfrm>
          <a:prstGeom prst="rect">
            <a:avLst/>
          </a:prstGeom>
        </p:spPr>
      </p:pic>
      <p:sp>
        <p:nvSpPr>
          <p:cNvPr id="6" name="QA:chrome"/>
          <p:cNvSpPr/>
          <p:nvPr/>
        </p:nvSpPr>
        <p:spPr>
          <a:xfrm>
            <a:off x="11669695" y="6472800"/>
            <a:ext cx="10800" cy="385200"/>
          </a:xfrm>
          <a:prstGeom prst="rect">
            <a:avLst/>
          </a:prstGeom>
          <a:solidFill>
            <a:srgbClr val="909692"/>
          </a:solidFill>
          <a:ln/>
        </p:spPr>
      </p:sp>
      <p:sp>
        <p:nvSpPr>
          <p:cNvPr id="7" name="QA:slide_title"/>
          <p:cNvSpPr/>
          <p:nvPr/>
        </p:nvSpPr>
        <p:spPr>
          <a:xfrm>
            <a:off x="548640" y="22860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Hands-on 2 · Reviewer session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48640" y="1993976"/>
            <a:ext cx="1645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8534F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•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04672" y="1993976"/>
            <a:ext cx="10838383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Start Session B in a separate new worktree from the default branch; select Book App</a:t>
            </a: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Reviewer.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548640" y="2910408"/>
            <a:ext cx="1645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8534F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•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804672" y="2910408"/>
            <a:ext cx="1083838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Use the book-app-reviewer skill to produce a read-only acceptance checklist.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548640" y="3496640"/>
            <a:ext cx="1645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8534F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•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804672" y="3496640"/>
            <a:ext cx="10838383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Ask it to inspect the existing code and state what must be verified—not to edit or run</a:t>
            </a: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commands.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548640" y="4413072"/>
            <a:ext cx="1645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8534F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•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804672" y="4413072"/>
            <a:ext cx="1083838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Session B is independent; it does not automatically see Session A's uncommitted diff.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548640" y="4999304"/>
            <a:ext cx="1645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8534F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•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804672" y="4999304"/>
            <a:ext cx="1083838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Later compare its checklist with Session A's actual change and browser behavior.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A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1"/>
          </a:solidFill>
          <a:ln/>
        </p:spPr>
      </p:sp>
      <p:sp>
        <p:nvSpPr>
          <p:cNvPr id="3" name="QA:chrome"/>
          <p:cNvSpPr/>
          <p:nvPr/>
        </p:nvSpPr>
        <p:spPr>
          <a:xfrm>
            <a:off x="0" y="6454800"/>
            <a:ext cx="12191695" cy="18000"/>
          </a:xfrm>
          <a:prstGeom prst="rect">
            <a:avLst/>
          </a:prstGeom>
          <a:solidFill>
            <a:srgbClr val="8534F3"/>
          </a:solidFill>
          <a:ln/>
        </p:spPr>
      </p:sp>
      <p:sp>
        <p:nvSpPr>
          <p:cNvPr id="4" name="QA:chrome"/>
          <p:cNvSpPr/>
          <p:nvPr/>
        </p:nvSpPr>
        <p:spPr>
          <a:xfrm>
            <a:off x="548640" y="6526800"/>
            <a:ext cx="4572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09692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18</a:t>
            </a:r>
            <a:endParaRPr lang="en-US" sz="1200" dirty="0"/>
          </a:p>
        </p:txBody>
      </p:sp>
      <p:pic>
        <p:nvPicPr>
          <p:cNvPr id="5" name="QA:chrome" descr="/Users/ekyritsi/copilot-worktrees/my-pptx-generator/ekyritsi-super-journey/assets/logos/GitHub_Invertoca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52495" y="6530400"/>
            <a:ext cx="259200" cy="252000"/>
          </a:xfrm>
          <a:prstGeom prst="rect">
            <a:avLst/>
          </a:prstGeom>
        </p:spPr>
      </p:pic>
      <p:sp>
        <p:nvSpPr>
          <p:cNvPr id="6" name="QA:chrome"/>
          <p:cNvSpPr/>
          <p:nvPr/>
        </p:nvSpPr>
        <p:spPr>
          <a:xfrm>
            <a:off x="11669695" y="6472800"/>
            <a:ext cx="10800" cy="385200"/>
          </a:xfrm>
          <a:prstGeom prst="rect">
            <a:avLst/>
          </a:prstGeom>
          <a:solidFill>
            <a:srgbClr val="909692"/>
          </a:solidFill>
          <a:ln/>
        </p:spPr>
      </p:sp>
      <p:sp>
        <p:nvSpPr>
          <p:cNvPr id="7" name="QA:slide_title"/>
          <p:cNvSpPr/>
          <p:nvPr/>
        </p:nvSpPr>
        <p:spPr>
          <a:xfrm>
            <a:off x="548640" y="22860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Mini-teach · Keep the work in context</a:t>
            </a:r>
            <a:endParaRPr lang="en-US" sz="2800" dirty="0"/>
          </a:p>
        </p:txBody>
      </p:sp>
      <p:graphicFrame>
        <p:nvGraphicFramePr>
          <p:cNvPr id="19" name="QA: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11094415" cy="914400"/>
        </p:xfrm>
        <a:graphic>
          <a:graphicData uri="http://schemas.openxmlformats.org/drawingml/2006/table">
            <a:tbl>
              <a:tblPr/>
              <a:tblGrid>
                <a:gridCol w="5547208"/>
                <a:gridCol w="5547208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Part of the workflow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37160" marR="13716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853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1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Why it matters in the app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37160" marR="13716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853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13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B0BAC3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Prompt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37160" marR="13716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F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B0BAC3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Describe this task and the outcome you need now.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37160" marR="13716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F2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B0BAC3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Repository context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37160" marR="13716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8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B0BAC3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Ground work in the project files and existing patterns.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37160" marR="13716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82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B0BAC3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Session + worktree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37160" marR="13716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F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B0BAC3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Keep task history visible and changes isolated.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37160" marR="13716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F2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B0BAC3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Canvas + checks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37160" marR="13716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8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B0BAC3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Track status, then verify with the diff, tests, and browser.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37160" marR="13716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82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A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1"/>
          </a:solidFill>
          <a:ln/>
        </p:spPr>
      </p:sp>
      <p:sp>
        <p:nvSpPr>
          <p:cNvPr id="3" name="QA:chrome"/>
          <p:cNvSpPr/>
          <p:nvPr/>
        </p:nvSpPr>
        <p:spPr>
          <a:xfrm>
            <a:off x="0" y="6454800"/>
            <a:ext cx="12191695" cy="18000"/>
          </a:xfrm>
          <a:prstGeom prst="rect">
            <a:avLst/>
          </a:prstGeom>
          <a:solidFill>
            <a:srgbClr val="8534F3"/>
          </a:solidFill>
          <a:ln/>
        </p:spPr>
      </p:sp>
      <p:sp>
        <p:nvSpPr>
          <p:cNvPr id="4" name="QA:chrome"/>
          <p:cNvSpPr/>
          <p:nvPr/>
        </p:nvSpPr>
        <p:spPr>
          <a:xfrm>
            <a:off x="548640" y="6526800"/>
            <a:ext cx="4572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09692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19</a:t>
            </a:r>
            <a:endParaRPr lang="en-US" sz="1200" dirty="0"/>
          </a:p>
        </p:txBody>
      </p:sp>
      <p:pic>
        <p:nvPicPr>
          <p:cNvPr id="5" name="QA:chrome" descr="/Users/ekyritsi/copilot-worktrees/my-pptx-generator/ekyritsi-super-journey/assets/logos/GitHub_Invertoca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52495" y="6530400"/>
            <a:ext cx="259200" cy="252000"/>
          </a:xfrm>
          <a:prstGeom prst="rect">
            <a:avLst/>
          </a:prstGeom>
        </p:spPr>
      </p:pic>
      <p:sp>
        <p:nvSpPr>
          <p:cNvPr id="6" name="QA:chrome"/>
          <p:cNvSpPr/>
          <p:nvPr/>
        </p:nvSpPr>
        <p:spPr>
          <a:xfrm>
            <a:off x="11669695" y="6472800"/>
            <a:ext cx="10800" cy="385200"/>
          </a:xfrm>
          <a:prstGeom prst="rect">
            <a:avLst/>
          </a:prstGeom>
          <a:solidFill>
            <a:srgbClr val="909692"/>
          </a:solidFill>
          <a:ln/>
        </p:spPr>
      </p:sp>
      <p:sp>
        <p:nvSpPr>
          <p:cNvPr id="7" name="QA:slide_title"/>
          <p:cNvSpPr/>
          <p:nvPr/>
        </p:nvSpPr>
        <p:spPr>
          <a:xfrm>
            <a:off x="548640" y="22860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Mini-teach · Canvas as the shared board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48640" y="2452192"/>
            <a:ext cx="1645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8534F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•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04672" y="2452192"/>
            <a:ext cx="1083838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Create or open a compact work board in the session side panel.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548640" y="3038424"/>
            <a:ext cx="1645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8534F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•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804672" y="3038424"/>
            <a:ext cx="10838383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Track the feature proposal, Session A implementation, Session B review checklist, and</a:t>
            </a: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verification evidence.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548640" y="3954856"/>
            <a:ext cx="1645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8534F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•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804672" y="3954856"/>
            <a:ext cx="1083838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The canvas makes status visible; it does not replace reviewing the diff or running checks.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548640" y="4541088"/>
            <a:ext cx="1645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8534F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•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804672" y="4541088"/>
            <a:ext cx="1083838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Use the board to tell what needs attention without searching a long chat.</a:t>
            </a:r>
            <a:endParaRPr 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A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1"/>
          </a:solidFill>
          <a:ln/>
        </p:spPr>
      </p:sp>
      <p:sp>
        <p:nvSpPr>
          <p:cNvPr id="3" name="QA:chrome"/>
          <p:cNvSpPr/>
          <p:nvPr/>
        </p:nvSpPr>
        <p:spPr>
          <a:xfrm>
            <a:off x="0" y="6454800"/>
            <a:ext cx="12191695" cy="18000"/>
          </a:xfrm>
          <a:prstGeom prst="rect">
            <a:avLst/>
          </a:prstGeom>
          <a:solidFill>
            <a:srgbClr val="8534F3"/>
          </a:solidFill>
          <a:ln/>
        </p:spPr>
      </p:sp>
      <p:sp>
        <p:nvSpPr>
          <p:cNvPr id="4" name="QA:chrome"/>
          <p:cNvSpPr/>
          <p:nvPr/>
        </p:nvSpPr>
        <p:spPr>
          <a:xfrm>
            <a:off x="548640" y="6526800"/>
            <a:ext cx="4572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09692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20</a:t>
            </a:r>
            <a:endParaRPr lang="en-US" sz="1200" dirty="0"/>
          </a:p>
        </p:txBody>
      </p:sp>
      <p:pic>
        <p:nvPicPr>
          <p:cNvPr id="5" name="QA:chrome" descr="/Users/ekyritsi/copilot-worktrees/my-pptx-generator/ekyritsi-super-journey/assets/logos/GitHub_Invertoca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52495" y="6530400"/>
            <a:ext cx="259200" cy="252000"/>
          </a:xfrm>
          <a:prstGeom prst="rect">
            <a:avLst/>
          </a:prstGeom>
        </p:spPr>
      </p:pic>
      <p:sp>
        <p:nvSpPr>
          <p:cNvPr id="6" name="QA:chrome"/>
          <p:cNvSpPr/>
          <p:nvPr/>
        </p:nvSpPr>
        <p:spPr>
          <a:xfrm>
            <a:off x="11669695" y="6472800"/>
            <a:ext cx="10800" cy="385200"/>
          </a:xfrm>
          <a:prstGeom prst="rect">
            <a:avLst/>
          </a:prstGeom>
          <a:solidFill>
            <a:srgbClr val="909692"/>
          </a:solidFill>
          <a:ln/>
        </p:spPr>
      </p:sp>
      <p:sp>
        <p:nvSpPr>
          <p:cNvPr id="7" name="QA:slide_title"/>
          <p:cNvSpPr/>
          <p:nvPr/>
        </p:nvSpPr>
        <p:spPr>
          <a:xfrm>
            <a:off x="548640" y="22860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Hands-on 3 · Record and verify</a:t>
            </a:r>
            <a:endParaRPr lang="en-US" sz="2800" dirty="0"/>
          </a:p>
        </p:txBody>
      </p:sp>
      <p:sp>
        <p:nvSpPr>
          <p:cNvPr id="8" name="QA:card"/>
          <p:cNvSpPr/>
          <p:nvPr/>
        </p:nvSpPr>
        <p:spPr>
          <a:xfrm>
            <a:off x="548640" y="1005840"/>
            <a:ext cx="11094415" cy="5311800"/>
          </a:xfrm>
          <a:prstGeom prst="roundRect">
            <a:avLst>
              <a:gd name="adj" fmla="val 2754"/>
            </a:avLst>
          </a:prstGeom>
          <a:solidFill>
            <a:srgbClr val="20262C"/>
          </a:solidFill>
          <a:ln w="9525">
            <a:solidFill>
              <a:srgbClr val="5A615C"/>
            </a:solidFill>
            <a:prstDash val="solid"/>
          </a:ln>
        </p:spPr>
      </p:sp>
      <p:sp>
        <p:nvSpPr>
          <p:cNvPr id="9" name="QA:check:0"/>
          <p:cNvSpPr/>
          <p:nvPr/>
        </p:nvSpPr>
        <p:spPr>
          <a:xfrm>
            <a:off x="914400" y="1525000"/>
            <a:ext cx="347472" cy="347472"/>
          </a:xfrm>
          <a:prstGeom prst="roundRect">
            <a:avLst>
              <a:gd name="adj" fmla="val 50000"/>
            </a:avLst>
          </a:prstGeom>
          <a:ln w="19050">
            <a:solidFill>
              <a:srgbClr val="909692"/>
            </a:solidFill>
            <a:prstDash val="solid"/>
          </a:ln>
        </p:spPr>
      </p:sp>
      <p:sp>
        <p:nvSpPr>
          <p:cNvPr id="10" name="QA:heading:0"/>
          <p:cNvSpPr/>
          <p:nvPr/>
        </p:nvSpPr>
        <p:spPr>
          <a:xfrm>
            <a:off x="1645920" y="1393936"/>
            <a:ext cx="963137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Put acceptance criteria on the canvas; update both session lanes from what</a:t>
            </a:r>
            <a:endParaRPr lang="en-US" sz="2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actually happened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914400" y="2183137"/>
            <a:ext cx="10362895" cy="12700"/>
          </a:xfrm>
          <a:prstGeom prst="rect">
            <a:avLst/>
          </a:prstGeom>
          <a:solidFill>
            <a:srgbClr val="5A615C"/>
          </a:solidFill>
          <a:ln/>
        </p:spPr>
      </p:sp>
      <p:sp>
        <p:nvSpPr>
          <p:cNvPr id="12" name="QA:check:1"/>
          <p:cNvSpPr/>
          <p:nvPr/>
        </p:nvSpPr>
        <p:spPr>
          <a:xfrm>
            <a:off x="914400" y="2506502"/>
            <a:ext cx="347472" cy="347472"/>
          </a:xfrm>
          <a:prstGeom prst="roundRect">
            <a:avLst>
              <a:gd name="adj" fmla="val 50000"/>
            </a:avLst>
          </a:prstGeom>
          <a:ln w="19050">
            <a:solidFill>
              <a:srgbClr val="909692"/>
            </a:solidFill>
            <a:prstDash val="solid"/>
          </a:ln>
        </p:spPr>
      </p:sp>
      <p:sp>
        <p:nvSpPr>
          <p:cNvPr id="13" name="QA:heading:1"/>
          <p:cNvSpPr/>
          <p:nvPr/>
        </p:nvSpPr>
        <p:spPr>
          <a:xfrm>
            <a:off x="1645920" y="2527838"/>
            <a:ext cx="9631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Inspect Session A's Changes diff; compare it with Session B's checklist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914400" y="3164639"/>
            <a:ext cx="10362895" cy="12700"/>
          </a:xfrm>
          <a:prstGeom prst="rect">
            <a:avLst/>
          </a:prstGeom>
          <a:solidFill>
            <a:srgbClr val="5A615C"/>
          </a:solidFill>
          <a:ln/>
        </p:spPr>
      </p:sp>
      <p:sp>
        <p:nvSpPr>
          <p:cNvPr id="15" name="QA:check:2"/>
          <p:cNvSpPr/>
          <p:nvPr/>
        </p:nvSpPr>
        <p:spPr>
          <a:xfrm>
            <a:off x="914400" y="3488004"/>
            <a:ext cx="347472" cy="347472"/>
          </a:xfrm>
          <a:prstGeom prst="roundRect">
            <a:avLst>
              <a:gd name="adj" fmla="val 50000"/>
            </a:avLst>
          </a:prstGeom>
          <a:ln w="19050">
            <a:solidFill>
              <a:srgbClr val="909692"/>
            </a:solidFill>
            <a:prstDash val="solid"/>
          </a:ln>
        </p:spPr>
      </p:sp>
      <p:sp>
        <p:nvSpPr>
          <p:cNvPr id="16" name="QA:heading:2"/>
          <p:cNvSpPr/>
          <p:nvPr/>
        </p:nvSpPr>
        <p:spPr>
          <a:xfrm>
            <a:off x="1645920" y="3509340"/>
            <a:ext cx="9631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Run npm test -- --run and npm run build in samples/book-app-web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914400" y="4146141"/>
            <a:ext cx="10362895" cy="12700"/>
          </a:xfrm>
          <a:prstGeom prst="rect">
            <a:avLst/>
          </a:prstGeom>
          <a:solidFill>
            <a:srgbClr val="5A615C"/>
          </a:solidFill>
          <a:ln/>
        </p:spPr>
      </p:sp>
      <p:sp>
        <p:nvSpPr>
          <p:cNvPr id="18" name="QA:check:3"/>
          <p:cNvSpPr/>
          <p:nvPr/>
        </p:nvSpPr>
        <p:spPr>
          <a:xfrm>
            <a:off x="914400" y="4469506"/>
            <a:ext cx="347472" cy="347472"/>
          </a:xfrm>
          <a:prstGeom prst="roundRect">
            <a:avLst>
              <a:gd name="adj" fmla="val 50000"/>
            </a:avLst>
          </a:prstGeom>
          <a:ln w="19050">
            <a:solidFill>
              <a:srgbClr val="909692"/>
            </a:solidFill>
            <a:prstDash val="solid"/>
          </a:ln>
        </p:spPr>
      </p:sp>
      <p:sp>
        <p:nvSpPr>
          <p:cNvPr id="19" name="QA:heading:3"/>
          <p:cNvSpPr/>
          <p:nvPr/>
        </p:nvSpPr>
        <p:spPr>
          <a:xfrm>
            <a:off x="1645920" y="4490842"/>
            <a:ext cx="9631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In Browser, test no filters, each active filter, and reset behavior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914400" y="5127643"/>
            <a:ext cx="10362895" cy="12700"/>
          </a:xfrm>
          <a:prstGeom prst="rect">
            <a:avLst/>
          </a:prstGeom>
          <a:solidFill>
            <a:srgbClr val="5A615C"/>
          </a:solidFill>
          <a:ln/>
        </p:spPr>
      </p:sp>
      <p:sp>
        <p:nvSpPr>
          <p:cNvPr id="21" name="QA:check:4"/>
          <p:cNvSpPr/>
          <p:nvPr/>
        </p:nvSpPr>
        <p:spPr>
          <a:xfrm>
            <a:off x="914400" y="5451008"/>
            <a:ext cx="347472" cy="347472"/>
          </a:xfrm>
          <a:prstGeom prst="roundRect">
            <a:avLst>
              <a:gd name="adj" fmla="val 50000"/>
            </a:avLst>
          </a:prstGeom>
          <a:ln w="19050">
            <a:solidFill>
              <a:srgbClr val="909692"/>
            </a:solidFill>
            <a:prstDash val="solid"/>
          </a:ln>
        </p:spPr>
      </p:sp>
      <p:sp>
        <p:nvSpPr>
          <p:cNvPr id="22" name="QA:heading:4"/>
          <p:cNvSpPr/>
          <p:nvPr/>
        </p:nvSpPr>
        <p:spPr>
          <a:xfrm>
            <a:off x="1645920" y="5472344"/>
            <a:ext cx="9631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Record only checks you personally observed; mark blocked checks as not run</a:t>
            </a:r>
            <a:endParaRPr lang="en-US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A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1"/>
          </a:solidFill>
          <a:ln/>
        </p:spPr>
      </p:sp>
      <p:sp>
        <p:nvSpPr>
          <p:cNvPr id="3" name="QA:chrome"/>
          <p:cNvSpPr/>
          <p:nvPr/>
        </p:nvSpPr>
        <p:spPr>
          <a:xfrm>
            <a:off x="0" y="6454800"/>
            <a:ext cx="12191695" cy="18000"/>
          </a:xfrm>
          <a:prstGeom prst="rect">
            <a:avLst/>
          </a:prstGeom>
          <a:solidFill>
            <a:srgbClr val="8534F3"/>
          </a:solidFill>
          <a:ln/>
        </p:spPr>
      </p:sp>
      <p:sp>
        <p:nvSpPr>
          <p:cNvPr id="4" name="QA:chrome"/>
          <p:cNvSpPr/>
          <p:nvPr/>
        </p:nvSpPr>
        <p:spPr>
          <a:xfrm>
            <a:off x="548640" y="6526800"/>
            <a:ext cx="4572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09692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21</a:t>
            </a:r>
            <a:endParaRPr lang="en-US" sz="1200" dirty="0"/>
          </a:p>
        </p:txBody>
      </p:sp>
      <p:pic>
        <p:nvPicPr>
          <p:cNvPr id="5" name="QA:chrome" descr="/Users/ekyritsi/copilot-worktrees/my-pptx-generator/ekyritsi-super-journey/assets/logos/GitHub_Invertoca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52495" y="6530400"/>
            <a:ext cx="259200" cy="252000"/>
          </a:xfrm>
          <a:prstGeom prst="rect">
            <a:avLst/>
          </a:prstGeom>
        </p:spPr>
      </p:pic>
      <p:sp>
        <p:nvSpPr>
          <p:cNvPr id="6" name="QA:chrome"/>
          <p:cNvSpPr/>
          <p:nvPr/>
        </p:nvSpPr>
        <p:spPr>
          <a:xfrm>
            <a:off x="11669695" y="6472800"/>
            <a:ext cx="10800" cy="385200"/>
          </a:xfrm>
          <a:prstGeom prst="rect">
            <a:avLst/>
          </a:prstGeom>
          <a:solidFill>
            <a:srgbClr val="909692"/>
          </a:solidFill>
          <a:ln/>
        </p:spPr>
      </p:sp>
      <p:sp>
        <p:nvSpPr>
          <p:cNvPr id="7" name="QA:slide_title"/>
          <p:cNvSpPr/>
          <p:nvPr/>
        </p:nvSpPr>
        <p:spPr>
          <a:xfrm>
            <a:off x="548640" y="22860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Validate Clear filters</a:t>
            </a:r>
            <a:endParaRPr lang="en-US" sz="2800" dirty="0"/>
          </a:p>
        </p:txBody>
      </p:sp>
      <p:graphicFrame>
        <p:nvGraphicFramePr>
          <p:cNvPr id="22" name="QA: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11094415" cy="914400"/>
        </p:xfrm>
        <a:graphic>
          <a:graphicData uri="http://schemas.openxmlformats.org/drawingml/2006/table">
            <a:tbl>
              <a:tblPr/>
              <a:tblGrid>
                <a:gridCol w="5547208"/>
                <a:gridCol w="5547208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State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37160" marR="13716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853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1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Expected result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37160" marR="13716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853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13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B0BAC3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No active filters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37160" marR="13716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F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B0BAC3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Control hidden; full list and stats show.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37160" marR="13716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F2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B0BAC3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Search, genre, or status active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37160" marR="13716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8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B0BAC3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Control is visible.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37160" marR="13716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82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B0BAC3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Select Clear filters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37160" marR="13716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F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B0BAC3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All filters reset; full list and stats return.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37160" marR="13716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F2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B0BAC3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Automated checks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37160" marR="13716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8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B0BAC3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Tests and build pass; inspect actual output.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37160" marR="13716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82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A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1"/>
          </a:solidFill>
          <a:ln/>
        </p:spPr>
      </p:sp>
      <p:sp>
        <p:nvSpPr>
          <p:cNvPr id="3" name="QA:chrome"/>
          <p:cNvSpPr/>
          <p:nvPr/>
        </p:nvSpPr>
        <p:spPr>
          <a:xfrm>
            <a:off x="0" y="6454800"/>
            <a:ext cx="12191695" cy="18000"/>
          </a:xfrm>
          <a:prstGeom prst="rect">
            <a:avLst/>
          </a:prstGeom>
          <a:solidFill>
            <a:srgbClr val="8534F3"/>
          </a:solidFill>
          <a:ln/>
        </p:spPr>
      </p:sp>
      <p:sp>
        <p:nvSpPr>
          <p:cNvPr id="4" name="QA:chrome"/>
          <p:cNvSpPr/>
          <p:nvPr/>
        </p:nvSpPr>
        <p:spPr>
          <a:xfrm>
            <a:off x="548640" y="6526800"/>
            <a:ext cx="4572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09692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22</a:t>
            </a:r>
            <a:endParaRPr lang="en-US" sz="1200" dirty="0"/>
          </a:p>
        </p:txBody>
      </p:sp>
      <p:pic>
        <p:nvPicPr>
          <p:cNvPr id="5" name="QA:chrome" descr="/Users/ekyritsi/copilot-worktrees/my-pptx-generator/ekyritsi-super-journey/assets/logos/GitHub_Invertoca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52495" y="6530400"/>
            <a:ext cx="259200" cy="252000"/>
          </a:xfrm>
          <a:prstGeom prst="rect">
            <a:avLst/>
          </a:prstGeom>
        </p:spPr>
      </p:pic>
      <p:sp>
        <p:nvSpPr>
          <p:cNvPr id="6" name="QA:chrome"/>
          <p:cNvSpPr/>
          <p:nvPr/>
        </p:nvSpPr>
        <p:spPr>
          <a:xfrm>
            <a:off x="11669695" y="6472800"/>
            <a:ext cx="10800" cy="385200"/>
          </a:xfrm>
          <a:prstGeom prst="rect">
            <a:avLst/>
          </a:prstGeom>
          <a:solidFill>
            <a:srgbClr val="909692"/>
          </a:solidFill>
          <a:ln/>
        </p:spPr>
      </p:sp>
      <p:sp>
        <p:nvSpPr>
          <p:cNvPr id="7" name="QA:slide_title"/>
          <p:cNvSpPr/>
          <p:nvPr/>
        </p:nvSpPr>
        <p:spPr>
          <a:xfrm>
            <a:off x="548640" y="22860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Compare the evidence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48640" y="2617292"/>
            <a:ext cx="1645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8534F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•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04672" y="2617292"/>
            <a:ext cx="1083838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Session A · What files changed? Does the diff match the plan? Did tests and build pass?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548640" y="3203524"/>
            <a:ext cx="1645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8534F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•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804672" y="3203524"/>
            <a:ext cx="1083838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Session B · What criteria did the reviewer identify? Which are confirmed in code?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548640" y="3789756"/>
            <a:ext cx="1645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8534F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•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804672" y="3789756"/>
            <a:ext cx="1083838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Browser · What behavior did you personally observe?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548640" y="4375988"/>
            <a:ext cx="1645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8534F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•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804672" y="4375988"/>
            <a:ext cx="1083838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Canvas · Does the board reflect actual status, including anything not run?</a:t>
            </a:r>
            <a:endParaRPr lang="en-US"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A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1"/>
          </a:solidFill>
          <a:ln/>
        </p:spPr>
      </p:sp>
      <p:sp>
        <p:nvSpPr>
          <p:cNvPr id="3" name="QA:chrome"/>
          <p:cNvSpPr/>
          <p:nvPr/>
        </p:nvSpPr>
        <p:spPr>
          <a:xfrm>
            <a:off x="0" y="6454800"/>
            <a:ext cx="12191695" cy="18000"/>
          </a:xfrm>
          <a:prstGeom prst="rect">
            <a:avLst/>
          </a:prstGeom>
          <a:solidFill>
            <a:srgbClr val="8534F3"/>
          </a:solidFill>
          <a:ln/>
        </p:spPr>
      </p:sp>
      <p:sp>
        <p:nvSpPr>
          <p:cNvPr id="4" name="QA:chrome"/>
          <p:cNvSpPr/>
          <p:nvPr/>
        </p:nvSpPr>
        <p:spPr>
          <a:xfrm>
            <a:off x="548640" y="6526800"/>
            <a:ext cx="4572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09692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23</a:t>
            </a:r>
            <a:endParaRPr lang="en-US" sz="1200" dirty="0"/>
          </a:p>
        </p:txBody>
      </p:sp>
      <p:pic>
        <p:nvPicPr>
          <p:cNvPr id="5" name="QA:chrome" descr="/Users/ekyritsi/copilot-worktrees/my-pptx-generator/ekyritsi-super-journey/assets/logos/GitHub_Invertoca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52495" y="6530400"/>
            <a:ext cx="259200" cy="252000"/>
          </a:xfrm>
          <a:prstGeom prst="rect">
            <a:avLst/>
          </a:prstGeom>
        </p:spPr>
      </p:pic>
      <p:sp>
        <p:nvSpPr>
          <p:cNvPr id="6" name="QA:chrome"/>
          <p:cNvSpPr/>
          <p:nvPr/>
        </p:nvSpPr>
        <p:spPr>
          <a:xfrm>
            <a:off x="11669695" y="6472800"/>
            <a:ext cx="10800" cy="385200"/>
          </a:xfrm>
          <a:prstGeom prst="rect">
            <a:avLst/>
          </a:prstGeom>
          <a:solidFill>
            <a:srgbClr val="909692"/>
          </a:solidFill>
          <a:ln/>
        </p:spPr>
      </p:sp>
      <p:sp>
        <p:nvSpPr>
          <p:cNvPr id="7" name="QA:slide_title"/>
          <p:cNvSpPr/>
          <p:nvPr/>
        </p:nvSpPr>
        <p:spPr>
          <a:xfrm>
            <a:off x="548640" y="22860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Takeaways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48640" y="2617292"/>
            <a:ext cx="1645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8534F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•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04672" y="2617292"/>
            <a:ext cx="1083838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The app is a place to coordinate work, not only ask for code.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548640" y="3203524"/>
            <a:ext cx="1645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8534F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•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804672" y="3203524"/>
            <a:ext cx="1083838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Separate sessions make concurrent tasks visible and isolated.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548640" y="3789756"/>
            <a:ext cx="1645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8534F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•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804672" y="3789756"/>
            <a:ext cx="1083838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Skills and custom agents shape how help is delivered; they are not proof of correctness.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548640" y="4375988"/>
            <a:ext cx="1645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8534F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•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804672" y="4375988"/>
            <a:ext cx="1083838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A canvas keeps status visible; people still inspect diffs and evidence.</a:t>
            </a:r>
            <a:endParaRPr lang="en-US" sz="2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A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1"/>
          </a:solidFill>
          <a:ln/>
        </p:spPr>
      </p:sp>
      <p:pic>
        <p:nvPicPr>
          <p:cNvPr id="3" name="QA:bg" descr="/Users/ekyritsi/copilot-worktrees/my-pptx-generator/ekyritsi-super-journey/assets/backgrounds/2026-mona-pixel-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QA:title"/>
          <p:cNvSpPr/>
          <p:nvPr/>
        </p:nvSpPr>
        <p:spPr>
          <a:xfrm>
            <a:off x="548640" y="2758440"/>
            <a:ext cx="6705432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Describe. Coordinate.</a:t>
            </a:r>
            <a:endParaRPr lang="en-US" sz="48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Verify.</a:t>
            </a: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2026-10-13T10:53:02Z</dcterms:created>
  <dcterms:modified xsi:type="dcterms:W3CDTF">2026-10-13T10:53:02Z</dcterms:modified>
</cp:coreProperties>
</file>